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5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608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90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01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99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217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50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7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81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87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56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B68F9-9D90-49E4-B8AF-969FC68768E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EF209-E8B3-428C-B79E-3AF155FE4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1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38A6-2B48-1E81-88CC-E768FD4A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1804BE99-78E5-B65D-C148-03AD9957E2F0}"/>
              </a:ext>
            </a:extLst>
          </p:cNvPr>
          <p:cNvGrpSpPr/>
          <p:nvPr/>
        </p:nvGrpSpPr>
        <p:grpSpPr>
          <a:xfrm>
            <a:off x="39190" y="98455"/>
            <a:ext cx="11860994" cy="6631485"/>
            <a:chOff x="39190" y="98455"/>
            <a:chExt cx="11860994" cy="6631485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D23D8B36-48EA-207C-AF57-CF543156438B}"/>
                </a:ext>
              </a:extLst>
            </p:cNvPr>
            <p:cNvSpPr/>
            <p:nvPr/>
          </p:nvSpPr>
          <p:spPr>
            <a:xfrm>
              <a:off x="3127101" y="746379"/>
              <a:ext cx="1252021" cy="6689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(400)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PG</a:t>
              </a:r>
              <a:r>
                <a:rPr lang="ko-KR" altLang="en-US" sz="1400" dirty="0">
                  <a:solidFill>
                    <a:schemeClr val="tx1"/>
                  </a:solidFill>
                </a:rPr>
                <a:t>사 서버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(Payment Gateway)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EF06BC5A-34D5-E5C2-57E6-2B1C5C6E39BA}"/>
                </a:ext>
              </a:extLst>
            </p:cNvPr>
            <p:cNvSpPr/>
            <p:nvPr/>
          </p:nvSpPr>
          <p:spPr>
            <a:xfrm>
              <a:off x="4675979" y="746379"/>
              <a:ext cx="1252021" cy="6689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(500)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국세청 서버</a:t>
              </a:r>
              <a:r>
                <a:rPr lang="en-US" altLang="ko-KR" sz="1200" dirty="0">
                  <a:solidFill>
                    <a:schemeClr val="tx1"/>
                  </a:solidFill>
                </a:rPr>
                <a:t> </a:t>
              </a:r>
              <a:r>
                <a:rPr lang="en-US" altLang="ko-KR" sz="900" dirty="0">
                  <a:solidFill>
                    <a:schemeClr val="tx1"/>
                  </a:solidFill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</a:rPr>
                <a:t>사업자 검증</a:t>
              </a:r>
              <a:r>
                <a:rPr lang="en-US" altLang="ko-KR" sz="9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516FCCC6-A064-5F7A-2D03-4621823EA1F2}"/>
                </a:ext>
              </a:extLst>
            </p:cNvPr>
            <p:cNvSpPr/>
            <p:nvPr/>
          </p:nvSpPr>
          <p:spPr>
            <a:xfrm>
              <a:off x="6213514" y="746379"/>
              <a:ext cx="1252021" cy="6689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(600)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메시징 서버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( </a:t>
              </a:r>
              <a:r>
                <a:rPr lang="ko-KR" altLang="en-US" sz="900" dirty="0">
                  <a:solidFill>
                    <a:schemeClr val="tx1"/>
                  </a:solidFill>
                </a:rPr>
                <a:t>문자 전송 </a:t>
              </a:r>
              <a:r>
                <a:rPr lang="en-US" altLang="ko-KR" sz="900" dirty="0">
                  <a:solidFill>
                    <a:schemeClr val="tx1"/>
                  </a:solidFill>
                </a:rPr>
                <a:t>)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3310B6B-3BCA-B869-14E8-491DBAB6EA9B}"/>
                </a:ext>
              </a:extLst>
            </p:cNvPr>
            <p:cNvSpPr/>
            <p:nvPr/>
          </p:nvSpPr>
          <p:spPr>
            <a:xfrm>
              <a:off x="7751049" y="746379"/>
              <a:ext cx="1252021" cy="6689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(700)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SNS </a:t>
              </a:r>
              <a:r>
                <a:rPr lang="ko-KR" altLang="en-US" sz="1200" dirty="0">
                  <a:solidFill>
                    <a:schemeClr val="tx1"/>
                  </a:solidFill>
                </a:rPr>
                <a:t>인증 서버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(</a:t>
              </a:r>
              <a:r>
                <a:rPr lang="en-US" altLang="ko-KR" sz="900" dirty="0" err="1">
                  <a:solidFill>
                    <a:schemeClr val="tx1"/>
                  </a:solidFill>
                </a:rPr>
                <a:t>kakao</a:t>
              </a:r>
              <a:r>
                <a:rPr lang="en-US" altLang="ko-KR" sz="900" dirty="0">
                  <a:solidFill>
                    <a:schemeClr val="tx1"/>
                  </a:solidFill>
                </a:rPr>
                <a:t>/</a:t>
              </a:r>
              <a:r>
                <a:rPr lang="en-US" altLang="ko-KR" sz="900" dirty="0" err="1">
                  <a:solidFill>
                    <a:schemeClr val="tx1"/>
                  </a:solidFill>
                </a:rPr>
                <a:t>naver</a:t>
              </a:r>
              <a:r>
                <a:rPr lang="en-US" altLang="ko-KR" sz="900" dirty="0">
                  <a:solidFill>
                    <a:schemeClr val="tx1"/>
                  </a:solidFill>
                </a:rPr>
                <a:t>)</a:t>
              </a:r>
              <a:endParaRPr lang="ko-KR" altLang="en-US" sz="900" dirty="0">
                <a:solidFill>
                  <a:schemeClr val="tx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C541DC98-8A45-10CA-7EAE-068C53F429D4}"/>
                </a:ext>
              </a:extLst>
            </p:cNvPr>
            <p:cNvGrpSpPr/>
            <p:nvPr/>
          </p:nvGrpSpPr>
          <p:grpSpPr>
            <a:xfrm>
              <a:off x="2533404" y="2984013"/>
              <a:ext cx="7019489" cy="1340894"/>
              <a:chOff x="3071684" y="1180777"/>
              <a:chExt cx="7019489" cy="1340894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F3F00BF3-1D8E-D7D9-09F4-E2FC6540A954}"/>
                  </a:ext>
                </a:extLst>
              </p:cNvPr>
              <p:cNvSpPr/>
              <p:nvPr/>
            </p:nvSpPr>
            <p:spPr>
              <a:xfrm>
                <a:off x="3071684" y="1180778"/>
                <a:ext cx="1698435" cy="134089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4A8BE481-E793-5055-CC1E-EDFBF2A21246}"/>
                  </a:ext>
                </a:extLst>
              </p:cNvPr>
              <p:cNvSpPr/>
              <p:nvPr/>
            </p:nvSpPr>
            <p:spPr>
              <a:xfrm>
                <a:off x="4845082" y="1180777"/>
                <a:ext cx="1698435" cy="134089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AEAFA8B2-30CE-2BEE-9BE9-9B84500BC494}"/>
                  </a:ext>
                </a:extLst>
              </p:cNvPr>
              <p:cNvSpPr/>
              <p:nvPr/>
            </p:nvSpPr>
            <p:spPr>
              <a:xfrm>
                <a:off x="6618910" y="1180777"/>
                <a:ext cx="1698435" cy="134089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881FD6CC-E700-4426-60FF-030615D0533E}"/>
                  </a:ext>
                </a:extLst>
              </p:cNvPr>
              <p:cNvSpPr/>
              <p:nvPr/>
            </p:nvSpPr>
            <p:spPr>
              <a:xfrm>
                <a:off x="8392738" y="1180777"/>
                <a:ext cx="1698435" cy="134089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1114328A-C2DA-9032-1675-46D1B4F9926B}"/>
                </a:ext>
              </a:extLst>
            </p:cNvPr>
            <p:cNvSpPr/>
            <p:nvPr/>
          </p:nvSpPr>
          <p:spPr>
            <a:xfrm>
              <a:off x="2430249" y="2178487"/>
              <a:ext cx="7233987" cy="227596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63E4068-59D5-5EC6-D65B-2E75B90123D5}"/>
                </a:ext>
              </a:extLst>
            </p:cNvPr>
            <p:cNvSpPr/>
            <p:nvPr/>
          </p:nvSpPr>
          <p:spPr>
            <a:xfrm>
              <a:off x="3890687" y="2319312"/>
              <a:ext cx="4229100" cy="5238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하늘 꽃송이 중계 서버 </a:t>
              </a:r>
              <a:r>
                <a:rPr lang="en-US" altLang="ko-KR" dirty="0">
                  <a:solidFill>
                    <a:schemeClr val="tx1"/>
                  </a:solidFill>
                </a:rPr>
                <a:t>(300)</a:t>
              </a: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(Haneul Blossom Core Server)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1F10687-D9A6-C5AA-6561-9356E48284AB}"/>
                </a:ext>
              </a:extLst>
            </p:cNvPr>
            <p:cNvSpPr txBox="1"/>
            <p:nvPr/>
          </p:nvSpPr>
          <p:spPr>
            <a:xfrm>
              <a:off x="2648256" y="3121049"/>
              <a:ext cx="142165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900" b="1" dirty="0"/>
                <a:t>인증</a:t>
              </a:r>
              <a:r>
                <a:rPr lang="en-US" altLang="ko-KR" sz="900" b="1" dirty="0"/>
                <a:t>/</a:t>
              </a:r>
              <a:r>
                <a:rPr lang="ko-KR" altLang="en-US" sz="900" b="1" dirty="0"/>
                <a:t>매칭 모듈</a:t>
              </a:r>
              <a:endParaRPr lang="en-US" altLang="ko-KR" sz="900" b="1" dirty="0"/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900" b="1" dirty="0"/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900" dirty="0" err="1"/>
                <a:t>주체별인증</a:t>
              </a:r>
              <a:r>
                <a:rPr lang="en-US" altLang="ko-KR" sz="900" dirty="0"/>
                <a:t>(SNS/</a:t>
              </a:r>
              <a:r>
                <a:rPr lang="ko-KR" altLang="en-US" sz="900" dirty="0"/>
                <a:t>이메일</a:t>
              </a:r>
              <a:r>
                <a:rPr lang="en-US" altLang="ko-KR" sz="900" dirty="0"/>
                <a:t>) 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900" dirty="0"/>
                <a:t>및 </a:t>
              </a:r>
              <a:endParaRPr lang="en-US" altLang="ko-KR" sz="900" dirty="0"/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900" dirty="0"/>
                <a:t>위치 기반 매칭 관리</a:t>
              </a:r>
              <a:r>
                <a:rPr lang="en-US" altLang="ko-KR" sz="900" dirty="0"/>
                <a:t>,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/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900" dirty="0"/>
                <a:t>국세청 </a:t>
              </a:r>
              <a:r>
                <a:rPr lang="en-US" altLang="ko-KR" sz="900" dirty="0"/>
                <a:t>API </a:t>
              </a:r>
              <a:r>
                <a:rPr lang="ko-KR" altLang="en-US" sz="900" dirty="0"/>
                <a:t>연동 사업자 실시간 검증</a:t>
              </a:r>
              <a:endParaRPr lang="en-US" altLang="ko-KR" sz="9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A5A4E60-5520-6AD7-501E-482A74AD66C4}"/>
                </a:ext>
              </a:extLst>
            </p:cNvPr>
            <p:cNvSpPr txBox="1"/>
            <p:nvPr/>
          </p:nvSpPr>
          <p:spPr>
            <a:xfrm>
              <a:off x="4445405" y="3187152"/>
              <a:ext cx="1421658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900" b="1" dirty="0"/>
                <a:t>보안 채팅 엔진</a:t>
              </a:r>
              <a:endParaRPr lang="en-US" altLang="ko-KR" sz="900" b="1" dirty="0"/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900" b="1" dirty="0"/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900" dirty="0"/>
                <a:t> </a:t>
              </a:r>
              <a:r>
                <a:rPr lang="ko-KR" altLang="en-US" sz="900" dirty="0"/>
                <a:t>정규표현식</a:t>
              </a:r>
              <a:r>
                <a:rPr lang="en-US" altLang="ko-KR" sz="900" dirty="0"/>
                <a:t>(Regex) </a:t>
              </a:r>
              <a:r>
                <a:rPr lang="ko-KR" altLang="en-US" sz="900" dirty="0"/>
                <a:t>기반 실시간 연락처 </a:t>
              </a:r>
              <a:r>
                <a:rPr lang="ko-KR" altLang="en-US" sz="900" dirty="0" err="1"/>
                <a:t>마스킹</a:t>
              </a:r>
              <a:r>
                <a:rPr lang="ko-KR" altLang="en-US" sz="900" dirty="0"/>
                <a:t> 처리</a:t>
              </a:r>
              <a:endParaRPr lang="en-US" altLang="ko-KR" sz="9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56EBBB5-C51E-4B77-400C-D6AE98CA3FE4}"/>
                </a:ext>
              </a:extLst>
            </p:cNvPr>
            <p:cNvSpPr txBox="1"/>
            <p:nvPr/>
          </p:nvSpPr>
          <p:spPr>
            <a:xfrm>
              <a:off x="6224930" y="3177916"/>
              <a:ext cx="14216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3031C27-3850-6BA9-6E43-57795B71023C}"/>
                </a:ext>
              </a:extLst>
            </p:cNvPr>
            <p:cNvSpPr txBox="1"/>
            <p:nvPr/>
          </p:nvSpPr>
          <p:spPr>
            <a:xfrm>
              <a:off x="7980596" y="3105138"/>
              <a:ext cx="142165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900" b="1" dirty="0"/>
                <a:t>정산 엔진</a:t>
              </a:r>
              <a:endParaRPr lang="en-US" altLang="ko-KR" sz="900" b="1" dirty="0"/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900" b="1" dirty="0"/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900" dirty="0"/>
                <a:t> </a:t>
              </a:r>
              <a:r>
                <a:rPr lang="ko-KR" altLang="en-US" sz="900" dirty="0"/>
                <a:t>전자상거래법 제</a:t>
              </a:r>
              <a:r>
                <a:rPr lang="en-US" altLang="ko-KR" sz="900" dirty="0"/>
                <a:t>17</a:t>
              </a:r>
              <a:r>
                <a:rPr lang="ko-KR" altLang="en-US" sz="900" dirty="0"/>
                <a:t>조 제</a:t>
              </a:r>
              <a:r>
                <a:rPr lang="en-US" altLang="ko-KR" sz="900" dirty="0"/>
                <a:t>2</a:t>
              </a:r>
              <a:r>
                <a:rPr lang="ko-KR" altLang="en-US" sz="900" dirty="0"/>
                <a:t>항 제</a:t>
              </a:r>
              <a:r>
                <a:rPr lang="en-US" altLang="ko-KR" sz="900" dirty="0"/>
                <a:t>5</a:t>
              </a:r>
              <a:r>
                <a:rPr lang="ko-KR" altLang="en-US" sz="900" dirty="0"/>
                <a:t>호 기반 정보 자산 가치 산정 및 선제 </a:t>
              </a:r>
              <a:r>
                <a:rPr lang="ko-KR" altLang="en-US" sz="900" dirty="0" err="1"/>
                <a:t>취소자</a:t>
              </a:r>
              <a:r>
                <a:rPr lang="ko-KR" altLang="en-US" sz="900" dirty="0"/>
                <a:t> 식별을 통한 차등 위약금</a:t>
              </a:r>
              <a:r>
                <a:rPr lang="en-US" altLang="ko-KR" sz="900" dirty="0"/>
                <a:t>(50%)</a:t>
              </a:r>
              <a:r>
                <a:rPr lang="ko-KR" altLang="en-US" sz="900" dirty="0"/>
                <a:t> 산출 모듈</a:t>
              </a:r>
              <a:endParaRPr lang="en-US" altLang="ko-KR" sz="900" dirty="0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1960A280-695D-1ECF-B7BF-9A17DF313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2725" y="3085318"/>
              <a:ext cx="1454244" cy="1154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rPr>
                <a:t>스케줄 엔진</a:t>
              </a:r>
              <a:endParaRPr kumimoji="0" lang="en-US" altLang="ko-K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rPr>
                <a:t> </a:t>
              </a:r>
              <a:r>
                <a:rPr kumimoji="0" lang="ko-KR" altLang="ko-KR" sz="9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ko-KR" sz="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900" dirty="0">
                  <a:latin typeface="Arial" panose="020B0604020202020204" pitchFamily="34" charset="0"/>
                  <a:ea typeface="Google Sans Text"/>
                </a:rPr>
                <a:t>기산점($</a:t>
              </a:r>
              <a:r>
                <a:rPr lang="ko-KR" altLang="ko-KR" sz="900" dirty="0" err="1">
                  <a:latin typeface="Arial" panose="020B0604020202020204" pitchFamily="34" charset="0"/>
                  <a:ea typeface="Google Sans Text"/>
                </a:rPr>
                <a:t>T</a:t>
              </a:r>
              <a:r>
                <a:rPr lang="ko-KR" altLang="ko-KR" sz="900" dirty="0">
                  <a:latin typeface="Arial" panose="020B0604020202020204" pitchFamily="34" charset="0"/>
                  <a:ea typeface="Google Sans Text"/>
                </a:rPr>
                <a:t>_{</a:t>
              </a:r>
              <a:r>
                <a:rPr lang="ko-KR" altLang="ko-KR" sz="900" dirty="0" err="1">
                  <a:latin typeface="Arial" panose="020B0604020202020204" pitchFamily="34" charset="0"/>
                  <a:ea typeface="Google Sans Text"/>
                </a:rPr>
                <a:t>pay</a:t>
              </a:r>
              <a:r>
                <a:rPr lang="ko-KR" altLang="ko-KR" sz="900" dirty="0">
                  <a:latin typeface="Arial" panose="020B0604020202020204" pitchFamily="34" charset="0"/>
                  <a:ea typeface="Google Sans Text"/>
                </a:rPr>
                <a:t>}$) 기반 </a:t>
              </a:r>
              <a:endParaRPr lang="en-US" altLang="ko-KR" sz="900" dirty="0">
                <a:latin typeface="Arial" panose="020B0604020202020204" pitchFamily="34" charset="0"/>
                <a:ea typeface="Google Sans Text"/>
              </a:endParaRP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900" dirty="0">
                  <a:latin typeface="Arial" panose="020B0604020202020204" pitchFamily="34" charset="0"/>
                  <a:ea typeface="Google Sans Text"/>
                </a:rPr>
                <a:t>시계열 자동화 제어</a:t>
              </a:r>
              <a:endParaRPr lang="en-US" altLang="ko-KR" sz="900" dirty="0">
                <a:latin typeface="Arial" panose="020B0604020202020204" pitchFamily="34" charset="0"/>
                <a:ea typeface="Google Sans Text"/>
              </a:endParaRP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900" dirty="0">
                  <a:latin typeface="Arial" panose="020B0604020202020204" pitchFamily="34" charset="0"/>
                  <a:ea typeface="Google Sans Text"/>
                </a:rPr>
                <a:t>(4일/6일 알림 및 </a:t>
              </a:r>
              <a:endParaRPr lang="en-US" altLang="ko-KR" sz="900" dirty="0">
                <a:latin typeface="Arial" panose="020B0604020202020204" pitchFamily="34" charset="0"/>
                <a:ea typeface="Google Sans Text"/>
              </a:endParaRP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900" dirty="0">
                  <a:latin typeface="Arial" panose="020B0604020202020204" pitchFamily="34" charset="0"/>
                  <a:ea typeface="Google Sans Text"/>
                </a:rPr>
                <a:t>7일 차 자동 확정) 및 </a:t>
              </a:r>
              <a:endParaRPr lang="en-US" altLang="ko-KR" sz="900" dirty="0">
                <a:latin typeface="Arial" panose="020B0604020202020204" pitchFamily="34" charset="0"/>
                <a:ea typeface="Google Sans Text"/>
              </a:endParaRP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900" dirty="0">
                  <a:latin typeface="Arial" panose="020B0604020202020204" pitchFamily="34" charset="0"/>
                  <a:ea typeface="Google Sans Text"/>
                </a:rPr>
                <a:t>취소 가능 인터페이스 </a:t>
              </a:r>
              <a:endParaRPr lang="en-US" altLang="ko-KR" sz="900" dirty="0">
                <a:latin typeface="Arial" panose="020B0604020202020204" pitchFamily="34" charset="0"/>
                <a:ea typeface="Google Sans Text"/>
              </a:endParaRP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900" dirty="0">
                  <a:latin typeface="Arial" panose="020B0604020202020204" pitchFamily="34" charset="0"/>
                  <a:ea typeface="Google Sans Text"/>
                </a:rPr>
                <a:t>기술적 차단 제어</a:t>
              </a:r>
              <a:endParaRPr lang="ko-KR" altLang="ko-KR" sz="900" dirty="0">
                <a:latin typeface="Arial" panose="020B0604020202020204" pitchFamily="34" charset="0"/>
              </a:endParaRPr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00897E8E-9D78-7B78-5926-1D47E9ACE7E3}"/>
                </a:ext>
              </a:extLst>
            </p:cNvPr>
            <p:cNvGrpSpPr/>
            <p:nvPr/>
          </p:nvGrpSpPr>
          <p:grpSpPr>
            <a:xfrm>
              <a:off x="3759462" y="1415369"/>
              <a:ext cx="4623948" cy="769468"/>
              <a:chOff x="3759462" y="1101341"/>
              <a:chExt cx="4623948" cy="769468"/>
            </a:xfrm>
          </p:grpSpPr>
          <p:cxnSp>
            <p:nvCxnSpPr>
              <p:cNvPr id="77" name="연결선: 꺾임 76">
                <a:extLst>
                  <a:ext uri="{FF2B5EF4-FFF2-40B4-BE49-F238E27FC236}">
                    <a16:creationId xmlns:a16="http://schemas.microsoft.com/office/drawing/2014/main" id="{35B5BAE0-FB4C-8B7E-48A4-8C8B532CC5BD}"/>
                  </a:ext>
                </a:extLst>
              </p:cNvPr>
              <p:cNvCxnSpPr>
                <a:cxnSpLocks/>
                <a:stCxn id="51" idx="2"/>
                <a:endCxn id="55" idx="2"/>
              </p:cNvCxnSpPr>
              <p:nvPr/>
            </p:nvCxnSpPr>
            <p:spPr>
              <a:xfrm rot="16200000" flipH="1">
                <a:off x="6065086" y="-1201397"/>
                <a:ext cx="12700" cy="4623948"/>
              </a:xfrm>
              <a:prstGeom prst="bentConnector3">
                <a:avLst>
                  <a:gd name="adj1" fmla="val 1800000"/>
                </a:avLst>
              </a:prstGeom>
              <a:ln w="317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23CBC331-4855-0664-D405-7D4AE2C35E91}"/>
                  </a:ext>
                </a:extLst>
              </p:cNvPr>
              <p:cNvCxnSpPr>
                <a:cxnSpLocks/>
                <a:endCxn id="52" idx="2"/>
              </p:cNvCxnSpPr>
              <p:nvPr/>
            </p:nvCxnSpPr>
            <p:spPr>
              <a:xfrm flipV="1">
                <a:off x="5301989" y="1101341"/>
                <a:ext cx="1" cy="247176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>
                <a:extLst>
                  <a:ext uri="{FF2B5EF4-FFF2-40B4-BE49-F238E27FC236}">
                    <a16:creationId xmlns:a16="http://schemas.microsoft.com/office/drawing/2014/main" id="{F5084BA7-790A-3CA5-71EB-0EE9B48B8F84}"/>
                  </a:ext>
                </a:extLst>
              </p:cNvPr>
              <p:cNvCxnSpPr>
                <a:cxnSpLocks/>
                <a:stCxn id="53" idx="2"/>
              </p:cNvCxnSpPr>
              <p:nvPr/>
            </p:nvCxnSpPr>
            <p:spPr>
              <a:xfrm>
                <a:off x="6839525" y="1101341"/>
                <a:ext cx="0" cy="247176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화살표: 위쪽/아래쪽 86">
                <a:extLst>
                  <a:ext uri="{FF2B5EF4-FFF2-40B4-BE49-F238E27FC236}">
                    <a16:creationId xmlns:a16="http://schemas.microsoft.com/office/drawing/2014/main" id="{572CF1CF-180F-F381-081B-650939ABF07D}"/>
                  </a:ext>
                </a:extLst>
              </p:cNvPr>
              <p:cNvSpPr/>
              <p:nvPr/>
            </p:nvSpPr>
            <p:spPr>
              <a:xfrm>
                <a:off x="5928000" y="1346934"/>
                <a:ext cx="285511" cy="523875"/>
              </a:xfrm>
              <a:prstGeom prst="up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16FC5C8A-9336-3EFF-2241-280B849778E9}"/>
                </a:ext>
              </a:extLst>
            </p:cNvPr>
            <p:cNvGrpSpPr/>
            <p:nvPr/>
          </p:nvGrpSpPr>
          <p:grpSpPr>
            <a:xfrm>
              <a:off x="216414" y="2627372"/>
              <a:ext cx="2187420" cy="1340893"/>
              <a:chOff x="281066" y="2313344"/>
              <a:chExt cx="2187420" cy="1340893"/>
            </a:xfrm>
          </p:grpSpPr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A30BD4B7-9A21-8FFA-079A-6421979994BD}"/>
                  </a:ext>
                </a:extLst>
              </p:cNvPr>
              <p:cNvGrpSpPr/>
              <p:nvPr/>
            </p:nvGrpSpPr>
            <p:grpSpPr>
              <a:xfrm>
                <a:off x="281066" y="2313344"/>
                <a:ext cx="1643379" cy="1340893"/>
                <a:chOff x="4223327" y="2607673"/>
                <a:chExt cx="959658" cy="1340893"/>
              </a:xfrm>
            </p:grpSpPr>
            <p:sp>
              <p:nvSpPr>
                <p:cNvPr id="2" name="사각형: 둥근 모서리 1">
                  <a:extLst>
                    <a:ext uri="{FF2B5EF4-FFF2-40B4-BE49-F238E27FC236}">
                      <a16:creationId xmlns:a16="http://schemas.microsoft.com/office/drawing/2014/main" id="{9D2D0C7B-39FF-76CD-B651-3464B4F9F6C8}"/>
                    </a:ext>
                  </a:extLst>
                </p:cNvPr>
                <p:cNvSpPr/>
                <p:nvPr/>
              </p:nvSpPr>
              <p:spPr>
                <a:xfrm>
                  <a:off x="4223327" y="2607673"/>
                  <a:ext cx="959658" cy="134089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Rectangle 2">
                  <a:extLst>
                    <a:ext uri="{FF2B5EF4-FFF2-40B4-BE49-F238E27FC236}">
                      <a16:creationId xmlns:a16="http://schemas.microsoft.com/office/drawing/2014/main" id="{5FD96A29-3292-01CC-BAC1-54FF54F66D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2633" y="2851245"/>
                  <a:ext cx="783893" cy="923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0" lang="ko-KR" altLang="ko-KR" sz="9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유가족 단말기</a:t>
                  </a:r>
                  <a:r>
                    <a:rPr kumimoji="0" lang="en-US" altLang="ko-KR" sz="9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 (100)</a:t>
                  </a:r>
                  <a:r>
                    <a:rPr kumimoji="0" lang="ko-KR" altLang="ko-KR" sz="9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ko-KR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0" lang="ko-KR" altLang="ko-KR" sz="9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(</a:t>
                  </a:r>
                  <a:r>
                    <a:rPr kumimoji="0" lang="ko-KR" altLang="ko-KR" sz="900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App</a:t>
                  </a:r>
                  <a:r>
                    <a:rPr kumimoji="0" lang="en-US" altLang="ko-KR" sz="9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r>
                    <a:rPr kumimoji="0" lang="ko-KR" altLang="ko-KR" sz="9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/</a:t>
                  </a:r>
                  <a:r>
                    <a:rPr kumimoji="0" lang="en-US" altLang="ko-KR" sz="9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r>
                    <a:rPr kumimoji="0" lang="ko-KR" altLang="ko-KR" sz="900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Web</a:t>
                  </a:r>
                  <a:r>
                    <a:rPr kumimoji="0" lang="ko-KR" altLang="ko-KR" sz="9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r>
                    <a:rPr kumimoji="0" lang="ko-KR" altLang="ko-KR" sz="900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Interface</a:t>
                  </a:r>
                  <a:r>
                    <a:rPr kumimoji="0" lang="ko-KR" altLang="ko-KR" sz="9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rPr>
                    <a:t>)</a:t>
                  </a:r>
                  <a:endParaRPr kumimoji="0" lang="en-US" altLang="ko-KR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endParaRPr kumimoji="0" lang="ko-KR" altLang="ko-KR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900" dirty="0"/>
                    <a:t>견적 요청</a:t>
                  </a:r>
                  <a:r>
                    <a:rPr lang="en-US" altLang="ko-KR" sz="900" dirty="0"/>
                    <a:t>, </a:t>
                  </a:r>
                  <a:r>
                    <a:rPr lang="ko-KR" altLang="en-US" sz="900" dirty="0"/>
                    <a:t>보안 채팅</a:t>
                  </a:r>
                  <a:r>
                    <a:rPr lang="en-US" altLang="ko-KR" sz="900" dirty="0"/>
                    <a:t>, </a:t>
                  </a:r>
                </a:p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900" dirty="0"/>
                    <a:t>리뷰포인트 알림 </a:t>
                  </a:r>
                  <a:endParaRPr lang="en-US" altLang="ko-KR" sz="900" dirty="0"/>
                </a:p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900" dirty="0"/>
                    <a:t>수신 등</a:t>
                  </a:r>
                  <a:endParaRPr kumimoji="0" lang="ko-KR" altLang="ko-KR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0" name="화살표: 위쪽/아래쪽 89">
                <a:extLst>
                  <a:ext uri="{FF2B5EF4-FFF2-40B4-BE49-F238E27FC236}">
                    <a16:creationId xmlns:a16="http://schemas.microsoft.com/office/drawing/2014/main" id="{210E48C3-E0B9-AFFA-A856-14D031BCAB48}"/>
                  </a:ext>
                </a:extLst>
              </p:cNvPr>
              <p:cNvSpPr/>
              <p:nvPr/>
            </p:nvSpPr>
            <p:spPr>
              <a:xfrm rot="5400000">
                <a:off x="2057653" y="2750503"/>
                <a:ext cx="285511" cy="536154"/>
              </a:xfrm>
              <a:prstGeom prst="up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CD38879E-6708-4A9F-E162-63BABDE0E331}"/>
                </a:ext>
              </a:extLst>
            </p:cNvPr>
            <p:cNvGrpSpPr/>
            <p:nvPr/>
          </p:nvGrpSpPr>
          <p:grpSpPr>
            <a:xfrm>
              <a:off x="9698539" y="2213940"/>
              <a:ext cx="2201645" cy="2107438"/>
              <a:chOff x="9698539" y="1899912"/>
              <a:chExt cx="2201645" cy="2107438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4738DFA7-3B57-DB48-4FC5-140CDB7A8CFC}"/>
                  </a:ext>
                </a:extLst>
              </p:cNvPr>
              <p:cNvGrpSpPr/>
              <p:nvPr/>
            </p:nvGrpSpPr>
            <p:grpSpPr>
              <a:xfrm>
                <a:off x="10256804" y="1899912"/>
                <a:ext cx="1643380" cy="2107438"/>
                <a:chOff x="9287448" y="-814720"/>
                <a:chExt cx="1643380" cy="2107438"/>
              </a:xfrm>
            </p:grpSpPr>
            <p:sp>
              <p:nvSpPr>
                <p:cNvPr id="4" name="사각형: 둥근 모서리 3">
                  <a:extLst>
                    <a:ext uri="{FF2B5EF4-FFF2-40B4-BE49-F238E27FC236}">
                      <a16:creationId xmlns:a16="http://schemas.microsoft.com/office/drawing/2014/main" id="{D847A7B8-A297-CFB5-E7ED-529F0CDC460E}"/>
                    </a:ext>
                  </a:extLst>
                </p:cNvPr>
                <p:cNvSpPr/>
                <p:nvPr/>
              </p:nvSpPr>
              <p:spPr>
                <a:xfrm>
                  <a:off x="9287448" y="-814720"/>
                  <a:ext cx="1643380" cy="2107438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D514525-B727-816D-0E49-C8DA082C99E1}"/>
                    </a:ext>
                  </a:extLst>
                </p:cNvPr>
                <p:cNvSpPr txBox="1"/>
                <p:nvPr/>
              </p:nvSpPr>
              <p:spPr>
                <a:xfrm>
                  <a:off x="9398309" y="-573215"/>
                  <a:ext cx="1421658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900" b="1" dirty="0">
                      <a:latin typeface="Arial" panose="020B0604020202020204" pitchFamily="34" charset="0"/>
                    </a:rPr>
                    <a:t>상조회사</a:t>
                  </a:r>
                  <a:r>
                    <a:rPr lang="ko-KR" altLang="ko-KR" sz="900" b="1" dirty="0">
                      <a:latin typeface="Arial" panose="020B0604020202020204" pitchFamily="34" charset="0"/>
                    </a:rPr>
                    <a:t> 단말기</a:t>
                  </a:r>
                  <a:r>
                    <a:rPr lang="en-US" altLang="ko-KR" sz="900" b="1" dirty="0">
                      <a:latin typeface="Arial" panose="020B0604020202020204" pitchFamily="34" charset="0"/>
                    </a:rPr>
                    <a:t> (200)</a:t>
                  </a:r>
                  <a:r>
                    <a:rPr lang="ko-KR" altLang="ko-KR" sz="900" b="1" dirty="0">
                      <a:latin typeface="Arial" panose="020B0604020202020204" pitchFamily="34" charset="0"/>
                    </a:rPr>
                    <a:t> </a:t>
                  </a:r>
                  <a:endParaRPr lang="en-US" altLang="ko-KR" sz="900" b="1" dirty="0">
                    <a:latin typeface="Arial" panose="020B0604020202020204" pitchFamily="34" charset="0"/>
                  </a:endParaRPr>
                </a:p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ko-KR" sz="900" dirty="0">
                      <a:latin typeface="Arial" panose="020B0604020202020204" pitchFamily="34" charset="0"/>
                    </a:rPr>
                    <a:t>(</a:t>
                  </a:r>
                  <a:r>
                    <a:rPr lang="ko-KR" altLang="ko-KR" sz="900" dirty="0" err="1">
                      <a:latin typeface="Arial" panose="020B0604020202020204" pitchFamily="34" charset="0"/>
                    </a:rPr>
                    <a:t>App</a:t>
                  </a:r>
                  <a:r>
                    <a:rPr lang="ko-KR" altLang="ko-KR" sz="900" dirty="0">
                      <a:latin typeface="Arial" panose="020B0604020202020204" pitchFamily="34" charset="0"/>
                    </a:rPr>
                    <a:t>/</a:t>
                  </a:r>
                  <a:r>
                    <a:rPr lang="ko-KR" altLang="ko-KR" sz="900" dirty="0" err="1">
                      <a:latin typeface="Arial" panose="020B0604020202020204" pitchFamily="34" charset="0"/>
                    </a:rPr>
                    <a:t>Web</a:t>
                  </a:r>
                  <a:r>
                    <a:rPr lang="ko-KR" altLang="ko-KR" sz="900" dirty="0">
                      <a:latin typeface="Arial" panose="020B0604020202020204" pitchFamily="34" charset="0"/>
                    </a:rPr>
                    <a:t> </a:t>
                  </a:r>
                  <a:r>
                    <a:rPr lang="ko-KR" altLang="ko-KR" sz="900" dirty="0" err="1">
                      <a:latin typeface="Arial" panose="020B0604020202020204" pitchFamily="34" charset="0"/>
                    </a:rPr>
                    <a:t>Interface</a:t>
                  </a:r>
                  <a:r>
                    <a:rPr lang="ko-KR" altLang="ko-KR" sz="900" dirty="0">
                      <a:latin typeface="Arial" panose="020B0604020202020204" pitchFamily="34" charset="0"/>
                    </a:rPr>
                    <a:t>)</a:t>
                  </a:r>
                  <a:endParaRPr lang="ko-KR" altLang="en-US" sz="900" dirty="0">
                    <a:latin typeface="Arial" panose="020B0604020202020204" pitchFamily="34" charset="0"/>
                  </a:endParaRPr>
                </a:p>
                <a:p>
                  <a:pPr lvl="0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ko-KR" altLang="ko-KR" sz="900" dirty="0">
                    <a:latin typeface="Arial" panose="020B0604020202020204" pitchFamily="34" charset="0"/>
                  </a:endParaRPr>
                </a:p>
                <a:p>
                  <a:pPr algn="ctr"/>
                  <a:r>
                    <a:rPr lang="ko-KR" altLang="en-US" sz="900" dirty="0"/>
                    <a:t>복수 견적 제출</a:t>
                  </a:r>
                  <a:r>
                    <a:rPr lang="en-US" altLang="ko-KR" sz="900" dirty="0"/>
                    <a:t>(</a:t>
                  </a:r>
                  <a:r>
                    <a:rPr lang="ko-KR" altLang="en-US" sz="900" dirty="0"/>
                    <a:t>최대 </a:t>
                  </a:r>
                  <a:r>
                    <a:rPr lang="en-US" altLang="ko-KR" sz="900" dirty="0"/>
                    <a:t>4</a:t>
                  </a:r>
                  <a:r>
                    <a:rPr lang="ko-KR" altLang="en-US" sz="900" dirty="0"/>
                    <a:t>건</a:t>
                  </a:r>
                  <a:r>
                    <a:rPr lang="en-US" altLang="ko-KR" sz="900" dirty="0"/>
                    <a:t>), </a:t>
                  </a:r>
                </a:p>
                <a:p>
                  <a:pPr algn="ctr"/>
                  <a:r>
                    <a:rPr lang="ko-KR" altLang="en-US" sz="900" dirty="0"/>
                    <a:t>상담 수행</a:t>
                  </a:r>
                  <a:r>
                    <a:rPr lang="en-US" altLang="ko-KR" sz="900" dirty="0"/>
                    <a:t>,</a:t>
                  </a:r>
                </a:p>
                <a:p>
                  <a:pPr algn="ctr"/>
                  <a:r>
                    <a:rPr lang="ko-KR" altLang="en-US" sz="900" dirty="0"/>
                    <a:t>수수료 결제</a:t>
                  </a:r>
                  <a:r>
                    <a:rPr lang="en-US" altLang="ko-KR" sz="900" dirty="0"/>
                    <a:t>,</a:t>
                  </a:r>
                </a:p>
                <a:p>
                  <a:pPr algn="ctr"/>
                  <a:endParaRPr lang="en-US" altLang="ko-KR" sz="900" dirty="0"/>
                </a:p>
                <a:p>
                  <a:pPr algn="ctr"/>
                  <a:r>
                    <a:rPr lang="ko-KR" altLang="en-US" sz="900" dirty="0"/>
                    <a:t>선제 취소 누적에 따른 자동 </a:t>
                  </a:r>
                  <a:r>
                    <a:rPr lang="ko-KR" altLang="en-US" sz="900" dirty="0" err="1"/>
                    <a:t>패널티</a:t>
                  </a:r>
                  <a:r>
                    <a:rPr lang="en-US" altLang="ko-KR" sz="900" dirty="0"/>
                    <a:t>(1</a:t>
                  </a:r>
                  <a:r>
                    <a:rPr lang="ko-KR" altLang="en-US" sz="900" dirty="0"/>
                    <a:t>주 제한</a:t>
                  </a:r>
                  <a:r>
                    <a:rPr lang="en-US" altLang="ko-KR" sz="900" dirty="0"/>
                    <a:t>) </a:t>
                  </a:r>
                  <a:r>
                    <a:rPr lang="ko-KR" altLang="en-US" sz="900" dirty="0"/>
                    <a:t>고지 및 유가족 선제 취소 건에 대한 </a:t>
                  </a:r>
                  <a:r>
                    <a:rPr lang="ko-KR" altLang="en-US" sz="900" dirty="0" err="1"/>
                    <a:t>패널티</a:t>
                  </a:r>
                  <a:r>
                    <a:rPr lang="ko-KR" altLang="en-US" sz="900" dirty="0"/>
                    <a:t> 제외 내역 확인 인터페이스</a:t>
                  </a:r>
                  <a:endParaRPr lang="en-US" altLang="ko-KR" sz="900" dirty="0"/>
                </a:p>
              </p:txBody>
            </p:sp>
          </p:grpSp>
          <p:sp>
            <p:nvSpPr>
              <p:cNvPr id="92" name="화살표: 위쪽/아래쪽 91">
                <a:extLst>
                  <a:ext uri="{FF2B5EF4-FFF2-40B4-BE49-F238E27FC236}">
                    <a16:creationId xmlns:a16="http://schemas.microsoft.com/office/drawing/2014/main" id="{92688EC6-1647-CA0A-DCDB-67EB6F81DC6B}"/>
                  </a:ext>
                </a:extLst>
              </p:cNvPr>
              <p:cNvSpPr/>
              <p:nvPr/>
            </p:nvSpPr>
            <p:spPr>
              <a:xfrm rot="5400000">
                <a:off x="9823860" y="2706723"/>
                <a:ext cx="285511" cy="536154"/>
              </a:xfrm>
              <a:prstGeom prst="up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85C306D5-D37A-F721-3E92-E390C440BB61}"/>
                </a:ext>
              </a:extLst>
            </p:cNvPr>
            <p:cNvGrpSpPr/>
            <p:nvPr/>
          </p:nvGrpSpPr>
          <p:grpSpPr>
            <a:xfrm>
              <a:off x="5185671" y="4472177"/>
              <a:ext cx="1715979" cy="2257763"/>
              <a:chOff x="5065600" y="4139677"/>
              <a:chExt cx="1715979" cy="225776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98391E79-9ECE-6706-53C6-E019154516CA}"/>
                  </a:ext>
                </a:extLst>
              </p:cNvPr>
              <p:cNvGrpSpPr/>
              <p:nvPr/>
            </p:nvGrpSpPr>
            <p:grpSpPr>
              <a:xfrm>
                <a:off x="5065600" y="4587342"/>
                <a:ext cx="1715979" cy="1810098"/>
                <a:chOff x="5074836" y="4384150"/>
                <a:chExt cx="1715979" cy="1810098"/>
              </a:xfrm>
            </p:grpSpPr>
            <p:sp>
              <p:nvSpPr>
                <p:cNvPr id="44" name="원통형 43">
                  <a:extLst>
                    <a:ext uri="{FF2B5EF4-FFF2-40B4-BE49-F238E27FC236}">
                      <a16:creationId xmlns:a16="http://schemas.microsoft.com/office/drawing/2014/main" id="{25E9EC5E-73D1-189B-4E41-0FE9F7B708C6}"/>
                    </a:ext>
                  </a:extLst>
                </p:cNvPr>
                <p:cNvSpPr/>
                <p:nvPr/>
              </p:nvSpPr>
              <p:spPr>
                <a:xfrm>
                  <a:off x="5074836" y="4384150"/>
                  <a:ext cx="1715979" cy="1810098"/>
                </a:xfrm>
                <a:prstGeom prst="can">
                  <a:avLst>
                    <a:gd name="adj" fmla="val 36546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2AC1F015-F4DA-BE6E-59D9-131B72398621}"/>
                    </a:ext>
                  </a:extLst>
                </p:cNvPr>
                <p:cNvSpPr txBox="1"/>
                <p:nvPr/>
              </p:nvSpPr>
              <p:spPr>
                <a:xfrm>
                  <a:off x="5191154" y="4481285"/>
                  <a:ext cx="1421658" cy="16158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900" dirty="0">
                      <a:latin typeface="Arial" panose="020B0604020202020204" pitchFamily="34" charset="0"/>
                    </a:rPr>
                    <a:t>통합 데이터 베이스 </a:t>
                  </a:r>
                  <a:r>
                    <a:rPr lang="en-US" altLang="ko-KR" sz="900" dirty="0">
                      <a:latin typeface="Arial" panose="020B0604020202020204" pitchFamily="34" charset="0"/>
                    </a:rPr>
                    <a:t>(350)</a:t>
                  </a:r>
                </a:p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900" dirty="0">
                      <a:latin typeface="Arial" panose="020B0604020202020204" pitchFamily="34" charset="0"/>
                    </a:rPr>
                    <a:t>(Integrated Data Base)</a:t>
                  </a:r>
                </a:p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ko-KR" sz="900" dirty="0">
                    <a:latin typeface="Arial" panose="020B0604020202020204" pitchFamily="34" charset="0"/>
                  </a:endParaRPr>
                </a:p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900" dirty="0"/>
                    <a:t>회원</a:t>
                  </a:r>
                  <a:r>
                    <a:rPr lang="en-US" altLang="ko-KR" sz="900" dirty="0"/>
                    <a:t>, </a:t>
                  </a:r>
                  <a:r>
                    <a:rPr lang="ko-KR" altLang="en-US" sz="900" dirty="0"/>
                    <a:t>견적요청</a:t>
                  </a:r>
                  <a:r>
                    <a:rPr lang="en-US" altLang="ko-KR" sz="900" dirty="0"/>
                    <a:t>, </a:t>
                  </a:r>
                </a:p>
                <a:p>
                  <a:pPr lvl="0"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ko-KR" altLang="en-US" sz="900" dirty="0"/>
                    <a:t>견적제시</a:t>
                  </a:r>
                  <a:r>
                    <a:rPr lang="en-US" altLang="ko-KR" sz="900" dirty="0"/>
                    <a:t>,</a:t>
                  </a:r>
                  <a:r>
                    <a:rPr lang="ko-KR" altLang="en-US" sz="900" dirty="0"/>
                    <a:t>채팅취소 로그</a:t>
                  </a:r>
                  <a:r>
                    <a:rPr lang="en-US" altLang="ko-KR" sz="900" dirty="0"/>
                    <a:t>(</a:t>
                  </a:r>
                  <a:r>
                    <a:rPr lang="ko-KR" altLang="en-US" sz="900" dirty="0"/>
                    <a:t>선제 </a:t>
                  </a:r>
                  <a:r>
                    <a:rPr lang="ko-KR" altLang="en-US" sz="900" dirty="0" err="1"/>
                    <a:t>취소자</a:t>
                  </a:r>
                  <a:r>
                    <a:rPr lang="ko-KR" altLang="en-US" sz="900" dirty="0"/>
                    <a:t> 식별 데이터</a:t>
                  </a:r>
                  <a:r>
                    <a:rPr lang="en-US" altLang="ko-KR" sz="900" dirty="0"/>
                    <a:t>), </a:t>
                  </a:r>
                  <a:r>
                    <a:rPr lang="ko-KR" altLang="en-US" sz="900" dirty="0"/>
                    <a:t>리뷰 포인트 자산</a:t>
                  </a:r>
                  <a:r>
                    <a:rPr lang="en-US" altLang="ko-KR" sz="900" dirty="0"/>
                    <a:t>(3</a:t>
                  </a:r>
                  <a:r>
                    <a:rPr lang="ko-KR" altLang="en-US" sz="900" dirty="0"/>
                    <a:t>개월 유예 </a:t>
                  </a:r>
                  <a:r>
                    <a:rPr lang="ko-KR" altLang="en-US" sz="900" dirty="0" err="1"/>
                    <a:t>상태값</a:t>
                  </a:r>
                  <a:r>
                    <a:rPr lang="en-US" altLang="ko-KR" sz="900" dirty="0"/>
                    <a:t>), </a:t>
                  </a:r>
                  <a:r>
                    <a:rPr lang="ko-KR" altLang="en-US" sz="900" dirty="0" err="1"/>
                    <a:t>패널티</a:t>
                  </a:r>
                  <a:r>
                    <a:rPr lang="ko-KR" altLang="en-US" sz="900" dirty="0"/>
                    <a:t> 이력</a:t>
                  </a:r>
                  <a:r>
                    <a:rPr lang="en-US" altLang="ko-KR" sz="900" dirty="0"/>
                    <a:t>(</a:t>
                  </a:r>
                  <a:r>
                    <a:rPr lang="ko-KR" altLang="en-US" sz="900" dirty="0"/>
                    <a:t>유가족 선제 취소 제외 로그</a:t>
                  </a:r>
                  <a:r>
                    <a:rPr lang="en-US" altLang="ko-KR" sz="900" dirty="0"/>
                    <a:t>)</a:t>
                  </a:r>
                </a:p>
              </p:txBody>
            </p:sp>
          </p:grpSp>
          <p:sp>
            <p:nvSpPr>
              <p:cNvPr id="94" name="화살표: 위쪽/아래쪽 93">
                <a:extLst>
                  <a:ext uri="{FF2B5EF4-FFF2-40B4-BE49-F238E27FC236}">
                    <a16:creationId xmlns:a16="http://schemas.microsoft.com/office/drawing/2014/main" id="{A6D83A2D-4695-A933-DF1C-995EB152849B}"/>
                  </a:ext>
                </a:extLst>
              </p:cNvPr>
              <p:cNvSpPr/>
              <p:nvPr/>
            </p:nvSpPr>
            <p:spPr>
              <a:xfrm>
                <a:off x="5782401" y="4139677"/>
                <a:ext cx="285511" cy="420700"/>
              </a:xfrm>
              <a:prstGeom prst="up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21F610BE-8DBD-7A83-F77E-1548318CC75C}"/>
                </a:ext>
              </a:extLst>
            </p:cNvPr>
            <p:cNvSpPr/>
            <p:nvPr/>
          </p:nvSpPr>
          <p:spPr>
            <a:xfrm>
              <a:off x="39190" y="98455"/>
              <a:ext cx="4229100" cy="5238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시스템 구성도 </a:t>
              </a:r>
              <a:r>
                <a:rPr lang="en-US" altLang="ko-KR" b="1" dirty="0">
                  <a:solidFill>
                    <a:schemeClr val="tx1"/>
                  </a:solidFill>
                </a:rPr>
                <a:t>(System Architecture)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098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2230</TotalTime>
  <Words>269</Words>
  <Application>Microsoft Office PowerPoint</Application>
  <PresentationFormat>와이드스크린</PresentationFormat>
  <Paragraphs>55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다원 공간</dc:creator>
  <cp:lastModifiedBy>다원 공간</cp:lastModifiedBy>
  <cp:revision>13</cp:revision>
  <dcterms:created xsi:type="dcterms:W3CDTF">2026-01-16T07:50:15Z</dcterms:created>
  <dcterms:modified xsi:type="dcterms:W3CDTF">2026-01-22T15:18:56Z</dcterms:modified>
</cp:coreProperties>
</file>
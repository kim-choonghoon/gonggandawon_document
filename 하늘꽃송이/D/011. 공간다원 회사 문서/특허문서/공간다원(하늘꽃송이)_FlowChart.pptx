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74" r:id="rId2"/>
    <p:sldId id="277" r:id="rId3"/>
    <p:sldId id="263" r:id="rId4"/>
    <p:sldId id="265" r:id="rId5"/>
    <p:sldId id="281" r:id="rId6"/>
    <p:sldId id="268" r:id="rId7"/>
    <p:sldId id="269" r:id="rId8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3697" autoAdjust="0"/>
  </p:normalViewPr>
  <p:slideViewPr>
    <p:cSldViewPr>
      <p:cViewPr varScale="1">
        <p:scale>
          <a:sx n="52" d="100"/>
          <a:sy n="52" d="100"/>
        </p:scale>
        <p:origin x="876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5CC175-DF0E-4760-BF0E-2C140DCFFC02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6AD4BA-8EDE-4DFC-BC55-FEF0E98329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4352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AD4BA-8EDE-4DFC-BC55-FEF0E983296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9714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1415D-EFEE-0A6C-89F8-312E5CB6A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>
            <a:extLst>
              <a:ext uri="{FF2B5EF4-FFF2-40B4-BE49-F238E27FC236}">
                <a16:creationId xmlns:a16="http://schemas.microsoft.com/office/drawing/2014/main" id="{F1A494F4-95F1-1013-B42D-0563D66F25FB}"/>
              </a:ext>
            </a:extLst>
          </p:cNvPr>
          <p:cNvGrpSpPr/>
          <p:nvPr/>
        </p:nvGrpSpPr>
        <p:grpSpPr>
          <a:xfrm>
            <a:off x="381000" y="1447800"/>
            <a:ext cx="23622000" cy="11887200"/>
            <a:chOff x="381000" y="1447800"/>
            <a:chExt cx="23622000" cy="1188720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68C74498-4CAE-3B5A-3618-B7B4F5280BFB}"/>
                </a:ext>
              </a:extLst>
            </p:cNvPr>
            <p:cNvSpPr/>
            <p:nvPr/>
          </p:nvSpPr>
          <p:spPr>
            <a:xfrm>
              <a:off x="381000" y="1447800"/>
              <a:ext cx="23622000" cy="118872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984AF1B3-E924-F620-3C2E-21A48211170F}"/>
                </a:ext>
              </a:extLst>
            </p:cNvPr>
            <p:cNvCxnSpPr>
              <a:cxnSpLocks/>
              <a:stCxn id="9" idx="1"/>
            </p:cNvCxnSpPr>
            <p:nvPr/>
          </p:nvCxnSpPr>
          <p:spPr>
            <a:xfrm>
              <a:off x="381000" y="7391400"/>
              <a:ext cx="2362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465E53B9-FA94-C358-FC11-A3F3A253268C}"/>
                </a:ext>
              </a:extLst>
            </p:cNvPr>
            <p:cNvCxnSpPr/>
            <p:nvPr/>
          </p:nvCxnSpPr>
          <p:spPr>
            <a:xfrm>
              <a:off x="381000" y="4341844"/>
              <a:ext cx="2362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EAF4DC13-7D42-A178-F25C-2DB3ACB497D1}"/>
                </a:ext>
              </a:extLst>
            </p:cNvPr>
            <p:cNvCxnSpPr/>
            <p:nvPr/>
          </p:nvCxnSpPr>
          <p:spPr>
            <a:xfrm>
              <a:off x="381000" y="10287000"/>
              <a:ext cx="2362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B3EAA16D-559D-0194-B99E-FC14F1FBCF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5400" y="1447800"/>
              <a:ext cx="152400" cy="11887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55D718E6-3B9A-18BC-52B1-A080C0DA0CED}"/>
                </a:ext>
              </a:extLst>
            </p:cNvPr>
            <p:cNvSpPr/>
            <p:nvPr/>
          </p:nvSpPr>
          <p:spPr>
            <a:xfrm rot="16200000">
              <a:off x="-435533" y="2457189"/>
              <a:ext cx="2586368" cy="8381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유가족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C484AFEC-75F4-4016-0EBD-952CE598AD49}"/>
                </a:ext>
              </a:extLst>
            </p:cNvPr>
            <p:cNvSpPr/>
            <p:nvPr/>
          </p:nvSpPr>
          <p:spPr>
            <a:xfrm rot="16200000">
              <a:off x="-454217" y="5370556"/>
              <a:ext cx="2586368" cy="8381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중계 플랫폼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22F8933F-D83E-8DA9-6304-6162546013DA}"/>
                </a:ext>
              </a:extLst>
            </p:cNvPr>
            <p:cNvSpPr/>
            <p:nvPr/>
          </p:nvSpPr>
          <p:spPr>
            <a:xfrm rot="16200000">
              <a:off x="-472866" y="8440316"/>
              <a:ext cx="2586368" cy="79777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상조회사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CF8401C1-23F3-35D3-4352-5CE8BFB23D60}"/>
                </a:ext>
              </a:extLst>
            </p:cNvPr>
            <p:cNvSpPr/>
            <p:nvPr/>
          </p:nvSpPr>
          <p:spPr>
            <a:xfrm rot="16200000">
              <a:off x="-464300" y="11344482"/>
              <a:ext cx="2586368" cy="780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국세청</a:t>
              </a:r>
              <a:r>
                <a:rPr lang="en-US" altLang="ko-KR" dirty="0">
                  <a:solidFill>
                    <a:schemeClr val="tx1"/>
                  </a:solidFill>
                </a:rPr>
                <a:t>/SNS/PG</a:t>
              </a:r>
              <a:r>
                <a:rPr lang="ko-KR" altLang="en-US" dirty="0">
                  <a:solidFill>
                    <a:schemeClr val="tx1"/>
                  </a:solidFill>
                </a:rPr>
                <a:t>사</a:t>
              </a:r>
            </a:p>
          </p:txBody>
        </p:sp>
      </p:grpSp>
      <p:sp>
        <p:nvSpPr>
          <p:cNvPr id="123" name="TextBox 122">
            <a:extLst>
              <a:ext uri="{FF2B5EF4-FFF2-40B4-BE49-F238E27FC236}">
                <a16:creationId xmlns:a16="http://schemas.microsoft.com/office/drawing/2014/main" id="{D597C926-1E3B-C087-DE29-AF5E95D8B899}"/>
              </a:ext>
            </a:extLst>
          </p:cNvPr>
          <p:cNvSpPr txBox="1"/>
          <p:nvPr/>
        </p:nvSpPr>
        <p:spPr>
          <a:xfrm>
            <a:off x="264500" y="571500"/>
            <a:ext cx="84064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sz="3200" b="1" dirty="0"/>
              <a:t>단계별 운영 프로세스</a:t>
            </a:r>
            <a:r>
              <a:rPr lang="en-US" altLang="ko-KR" sz="3200" b="1" dirty="0"/>
              <a:t> (</a:t>
            </a:r>
            <a:r>
              <a:rPr lang="ko-KR" altLang="en-US" sz="3200" b="1" dirty="0"/>
              <a:t>공간다원 </a:t>
            </a:r>
            <a:r>
              <a:rPr lang="en-US" altLang="ko-KR" sz="3200" b="1" dirty="0"/>
              <a:t>: </a:t>
            </a:r>
            <a:r>
              <a:rPr lang="ko-KR" altLang="en-US" sz="3200" b="1" dirty="0" err="1"/>
              <a:t>하늘꽃송이</a:t>
            </a:r>
            <a:r>
              <a:rPr lang="en-US" altLang="ko-KR" sz="3200" b="1" dirty="0"/>
              <a:t>)</a:t>
            </a:r>
            <a:endParaRPr lang="ko-KR" altLang="en-US" sz="3200" dirty="0"/>
          </a:p>
        </p:txBody>
      </p:sp>
      <p:sp>
        <p:nvSpPr>
          <p:cNvPr id="2" name="순서도: 판단 1">
            <a:extLst>
              <a:ext uri="{FF2B5EF4-FFF2-40B4-BE49-F238E27FC236}">
                <a16:creationId xmlns:a16="http://schemas.microsoft.com/office/drawing/2014/main" id="{438985AE-8268-C5CC-5576-ED50FBC7C1C3}"/>
              </a:ext>
            </a:extLst>
          </p:cNvPr>
          <p:cNvSpPr/>
          <p:nvPr/>
        </p:nvSpPr>
        <p:spPr>
          <a:xfrm>
            <a:off x="1676400" y="2085108"/>
            <a:ext cx="3048000" cy="1630314"/>
          </a:xfrm>
          <a:prstGeom prst="flowChartDecisi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카카오톡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네이버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연동 회원 가입</a:t>
            </a:r>
          </a:p>
        </p:txBody>
      </p:sp>
      <p:sp>
        <p:nvSpPr>
          <p:cNvPr id="7" name="순서도: 판단 6">
            <a:extLst>
              <a:ext uri="{FF2B5EF4-FFF2-40B4-BE49-F238E27FC236}">
                <a16:creationId xmlns:a16="http://schemas.microsoft.com/office/drawing/2014/main" id="{2C234A4C-2F4E-949E-BB85-5EDDFD015984}"/>
              </a:ext>
            </a:extLst>
          </p:cNvPr>
          <p:cNvSpPr/>
          <p:nvPr/>
        </p:nvSpPr>
        <p:spPr>
          <a:xfrm>
            <a:off x="1676400" y="7918838"/>
            <a:ext cx="3048000" cy="1630314"/>
          </a:xfrm>
          <a:prstGeom prst="flowChartDecisi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카카오톡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네이버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연동 회원 가입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90C2CD3-069E-EE7F-48D9-E965190C7720}"/>
              </a:ext>
            </a:extLst>
          </p:cNvPr>
          <p:cNvSpPr/>
          <p:nvPr/>
        </p:nvSpPr>
        <p:spPr>
          <a:xfrm>
            <a:off x="2019300" y="11230093"/>
            <a:ext cx="2362200" cy="1752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카카오톡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네이버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회원 정보 </a:t>
            </a:r>
            <a:r>
              <a:rPr lang="en-US" altLang="ko-KR" sz="1600" dirty="0">
                <a:solidFill>
                  <a:schemeClr val="tx1"/>
                </a:solidFill>
              </a:rPr>
              <a:t>(</a:t>
            </a:r>
            <a:r>
              <a:rPr lang="ko-KR" altLang="en-US" sz="1600" dirty="0">
                <a:solidFill>
                  <a:schemeClr val="tx1"/>
                </a:solidFill>
              </a:rPr>
              <a:t>아이디</a:t>
            </a:r>
            <a:r>
              <a:rPr lang="en-US" altLang="ko-KR" sz="1600" dirty="0">
                <a:solidFill>
                  <a:schemeClr val="tx1"/>
                </a:solidFill>
              </a:rPr>
              <a:t>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8F4F7941-E886-933F-0E27-A90D52860CF7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3200400" y="9549152"/>
            <a:ext cx="0" cy="16809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BC18F94-B83D-01D7-FAB4-B6369AE4065A}"/>
              </a:ext>
            </a:extLst>
          </p:cNvPr>
          <p:cNvCxnSpPr>
            <a:cxnSpLocks/>
            <a:stCxn id="2" idx="2"/>
            <a:endCxn id="7" idx="0"/>
          </p:cNvCxnSpPr>
          <p:nvPr/>
        </p:nvCxnSpPr>
        <p:spPr>
          <a:xfrm>
            <a:off x="3200400" y="3715422"/>
            <a:ext cx="0" cy="42034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E62A338F-4550-7177-C66B-2A1E3F597909}"/>
              </a:ext>
            </a:extLst>
          </p:cNvPr>
          <p:cNvSpPr/>
          <p:nvPr/>
        </p:nvSpPr>
        <p:spPr>
          <a:xfrm>
            <a:off x="5562600" y="2012431"/>
            <a:ext cx="2362200" cy="1752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유가족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회원 </a:t>
            </a:r>
            <a:r>
              <a:rPr lang="en-US" altLang="ko-KR" sz="1600" dirty="0">
                <a:solidFill>
                  <a:schemeClr val="tx1"/>
                </a:solidFill>
              </a:rPr>
              <a:t>ID, </a:t>
            </a:r>
            <a:r>
              <a:rPr lang="ko-KR" altLang="en-US" sz="1600" dirty="0">
                <a:solidFill>
                  <a:schemeClr val="tx1"/>
                </a:solidFill>
              </a:rPr>
              <a:t>비밀번호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입력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간편 회원 가입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B2BE869E-9CEC-1410-3F76-2BD1AB6F3933}"/>
              </a:ext>
            </a:extLst>
          </p:cNvPr>
          <p:cNvSpPr/>
          <p:nvPr/>
        </p:nvSpPr>
        <p:spPr>
          <a:xfrm>
            <a:off x="5562600" y="7862855"/>
            <a:ext cx="2362200" cy="1752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상조회사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회원 </a:t>
            </a:r>
            <a:r>
              <a:rPr lang="en-US" altLang="ko-KR" sz="1600" dirty="0">
                <a:solidFill>
                  <a:schemeClr val="tx1"/>
                </a:solidFill>
              </a:rPr>
              <a:t>ID, </a:t>
            </a:r>
            <a:r>
              <a:rPr lang="ko-KR" altLang="en-US" sz="1600" dirty="0">
                <a:solidFill>
                  <a:schemeClr val="tx1"/>
                </a:solidFill>
              </a:rPr>
              <a:t>비밀번호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입력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간편 회원 가입</a:t>
            </a:r>
          </a:p>
        </p:txBody>
      </p:sp>
      <p:sp>
        <p:nvSpPr>
          <p:cNvPr id="30" name="순서도: 판단 29">
            <a:extLst>
              <a:ext uri="{FF2B5EF4-FFF2-40B4-BE49-F238E27FC236}">
                <a16:creationId xmlns:a16="http://schemas.microsoft.com/office/drawing/2014/main" id="{16FCAF43-8747-9DC6-E967-8F6582F84D58}"/>
              </a:ext>
            </a:extLst>
          </p:cNvPr>
          <p:cNvSpPr/>
          <p:nvPr/>
        </p:nvSpPr>
        <p:spPr>
          <a:xfrm>
            <a:off x="5235398" y="5021793"/>
            <a:ext cx="3048000" cy="1630314"/>
          </a:xfrm>
          <a:prstGeom prst="flowChartDecisi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회원 </a:t>
            </a:r>
            <a:r>
              <a:rPr lang="en-US" altLang="ko-KR" sz="1600" dirty="0">
                <a:solidFill>
                  <a:schemeClr val="tx1"/>
                </a:solidFill>
              </a:rPr>
              <a:t>ID</a:t>
            </a: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중복여부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332EF7-D96C-4A81-E8ED-A3BA0DF205BD}"/>
              </a:ext>
            </a:extLst>
          </p:cNvPr>
          <p:cNvSpPr txBox="1"/>
          <p:nvPr/>
        </p:nvSpPr>
        <p:spPr>
          <a:xfrm>
            <a:off x="6781800" y="6552061"/>
            <a:ext cx="512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YES</a:t>
            </a:r>
            <a:endParaRPr lang="ko-KR" altLang="en-US" dirty="0"/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3E6BC485-5BDB-1085-E0EE-248BCB6A3449}"/>
              </a:ext>
            </a:extLst>
          </p:cNvPr>
          <p:cNvCxnSpPr>
            <a:stCxn id="28" idx="2"/>
            <a:endCxn id="30" idx="0"/>
          </p:cNvCxnSpPr>
          <p:nvPr/>
        </p:nvCxnSpPr>
        <p:spPr>
          <a:xfrm>
            <a:off x="6743700" y="3765031"/>
            <a:ext cx="15698" cy="1256762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CDE7D731-1E30-10B1-483B-1BAF46990AC2}"/>
              </a:ext>
            </a:extLst>
          </p:cNvPr>
          <p:cNvCxnSpPr>
            <a:cxnSpLocks/>
            <a:stCxn id="30" idx="2"/>
            <a:endCxn id="29" idx="0"/>
          </p:cNvCxnSpPr>
          <p:nvPr/>
        </p:nvCxnSpPr>
        <p:spPr>
          <a:xfrm flipH="1">
            <a:off x="6743700" y="6652107"/>
            <a:ext cx="15698" cy="1210748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0B53E97-D284-CCFC-E2C7-FF05777BDDD3}"/>
              </a:ext>
            </a:extLst>
          </p:cNvPr>
          <p:cNvSpPr txBox="1"/>
          <p:nvPr/>
        </p:nvSpPr>
        <p:spPr>
          <a:xfrm>
            <a:off x="3200400" y="3719839"/>
            <a:ext cx="512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YES</a:t>
            </a:r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56E9B3D-5E78-1B14-EAC6-8C38595068DA}"/>
              </a:ext>
            </a:extLst>
          </p:cNvPr>
          <p:cNvSpPr txBox="1"/>
          <p:nvPr/>
        </p:nvSpPr>
        <p:spPr>
          <a:xfrm>
            <a:off x="4834182" y="2543794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NO</a:t>
            </a:r>
            <a:endParaRPr lang="ko-KR" altLang="en-US" dirty="0"/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5410501C-A46E-A2CE-D606-A6BB0894D9F8}"/>
              </a:ext>
            </a:extLst>
          </p:cNvPr>
          <p:cNvCxnSpPr>
            <a:cxnSpLocks/>
            <a:stCxn id="2" idx="3"/>
            <a:endCxn id="28" idx="1"/>
          </p:cNvCxnSpPr>
          <p:nvPr/>
        </p:nvCxnSpPr>
        <p:spPr>
          <a:xfrm flipV="1">
            <a:off x="4724400" y="2888731"/>
            <a:ext cx="838200" cy="115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5E7EC3E-CD01-10CA-7333-C990F7FD1BAB}"/>
              </a:ext>
            </a:extLst>
          </p:cNvPr>
          <p:cNvSpPr txBox="1"/>
          <p:nvPr/>
        </p:nvSpPr>
        <p:spPr>
          <a:xfrm>
            <a:off x="3200400" y="9585475"/>
            <a:ext cx="512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YES</a:t>
            </a:r>
            <a:endParaRPr lang="ko-KR" alt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A5BE24B-2561-39A3-DA97-81662CF82B6E}"/>
              </a:ext>
            </a:extLst>
          </p:cNvPr>
          <p:cNvSpPr txBox="1"/>
          <p:nvPr/>
        </p:nvSpPr>
        <p:spPr>
          <a:xfrm>
            <a:off x="4834182" y="8409430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NO</a:t>
            </a:r>
            <a:endParaRPr lang="ko-KR" altLang="en-US" dirty="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BB07F246-5A55-4EE5-C31E-22A8D0998E83}"/>
              </a:ext>
            </a:extLst>
          </p:cNvPr>
          <p:cNvCxnSpPr>
            <a:cxnSpLocks/>
            <a:stCxn id="7" idx="3"/>
            <a:endCxn id="29" idx="1"/>
          </p:cNvCxnSpPr>
          <p:nvPr/>
        </p:nvCxnSpPr>
        <p:spPr>
          <a:xfrm>
            <a:off x="4724400" y="8733995"/>
            <a:ext cx="838200" cy="51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BDFA59D7-B22A-C778-1C61-CB6A8D504584}"/>
              </a:ext>
            </a:extLst>
          </p:cNvPr>
          <p:cNvSpPr txBox="1"/>
          <p:nvPr/>
        </p:nvSpPr>
        <p:spPr>
          <a:xfrm>
            <a:off x="6743700" y="3826750"/>
            <a:ext cx="512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YES</a:t>
            </a:r>
            <a:endParaRPr lang="ko-KR" altLang="en-US" dirty="0"/>
          </a:p>
        </p:txBody>
      </p:sp>
      <p:sp>
        <p:nvSpPr>
          <p:cNvPr id="107" name="순서도: 판단 106">
            <a:extLst>
              <a:ext uri="{FF2B5EF4-FFF2-40B4-BE49-F238E27FC236}">
                <a16:creationId xmlns:a16="http://schemas.microsoft.com/office/drawing/2014/main" id="{14F0FDAE-D294-FEBB-7F9F-3733AFFD70B5}"/>
              </a:ext>
            </a:extLst>
          </p:cNvPr>
          <p:cNvSpPr/>
          <p:nvPr/>
        </p:nvSpPr>
        <p:spPr>
          <a:xfrm>
            <a:off x="19219319" y="5071547"/>
            <a:ext cx="3048000" cy="1630314"/>
          </a:xfrm>
          <a:prstGeom prst="flowChartDecisi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본인 인증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문자 정상</a:t>
            </a:r>
          </a:p>
        </p:txBody>
      </p:sp>
      <p:cxnSp>
        <p:nvCxnSpPr>
          <p:cNvPr id="157" name="연결선: 꺾임 156">
            <a:extLst>
              <a:ext uri="{FF2B5EF4-FFF2-40B4-BE49-F238E27FC236}">
                <a16:creationId xmlns:a16="http://schemas.microsoft.com/office/drawing/2014/main" id="{F2C52470-B02D-7899-FFD9-A7141F970759}"/>
              </a:ext>
            </a:extLst>
          </p:cNvPr>
          <p:cNvCxnSpPr>
            <a:cxnSpLocks/>
            <a:stCxn id="164" idx="3"/>
            <a:endCxn id="173" idx="0"/>
          </p:cNvCxnSpPr>
          <p:nvPr/>
        </p:nvCxnSpPr>
        <p:spPr>
          <a:xfrm>
            <a:off x="11658600" y="2888731"/>
            <a:ext cx="3182752" cy="1995950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순서도: 판단 162">
            <a:extLst>
              <a:ext uri="{FF2B5EF4-FFF2-40B4-BE49-F238E27FC236}">
                <a16:creationId xmlns:a16="http://schemas.microsoft.com/office/drawing/2014/main" id="{38EBEC5F-8127-24DD-929C-4E97AADF68E6}"/>
              </a:ext>
            </a:extLst>
          </p:cNvPr>
          <p:cNvSpPr/>
          <p:nvPr/>
        </p:nvSpPr>
        <p:spPr>
          <a:xfrm>
            <a:off x="8950389" y="5016307"/>
            <a:ext cx="3048000" cy="1630314"/>
          </a:xfrm>
          <a:prstGeom prst="flowChartDecisi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유가족 회원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여부</a:t>
            </a:r>
          </a:p>
        </p:txBody>
      </p:sp>
      <p:sp>
        <p:nvSpPr>
          <p:cNvPr id="164" name="사각형: 둥근 모서리 163">
            <a:extLst>
              <a:ext uri="{FF2B5EF4-FFF2-40B4-BE49-F238E27FC236}">
                <a16:creationId xmlns:a16="http://schemas.microsoft.com/office/drawing/2014/main" id="{951AE50A-EE49-59D0-8D68-C7A67F88EDC8}"/>
              </a:ext>
            </a:extLst>
          </p:cNvPr>
          <p:cNvSpPr/>
          <p:nvPr/>
        </p:nvSpPr>
        <p:spPr>
          <a:xfrm>
            <a:off x="9296400" y="2012431"/>
            <a:ext cx="2362200" cy="1752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장례 비용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견적 요청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( </a:t>
            </a:r>
            <a:r>
              <a:rPr lang="ko-KR" altLang="en-US" sz="1600" dirty="0">
                <a:solidFill>
                  <a:schemeClr val="tx1"/>
                </a:solidFill>
              </a:rPr>
              <a:t>상주 휴대전화 인증 </a:t>
            </a:r>
            <a:r>
              <a:rPr lang="en-US" altLang="ko-KR" sz="1600" dirty="0">
                <a:solidFill>
                  <a:schemeClr val="tx1"/>
                </a:solidFill>
              </a:rPr>
              <a:t>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cxnSp>
        <p:nvCxnSpPr>
          <p:cNvPr id="165" name="직선 화살표 연결선 164">
            <a:extLst>
              <a:ext uri="{FF2B5EF4-FFF2-40B4-BE49-F238E27FC236}">
                <a16:creationId xmlns:a16="http://schemas.microsoft.com/office/drawing/2014/main" id="{40024CB9-0FC9-105F-B0CE-0E7327DD828D}"/>
              </a:ext>
            </a:extLst>
          </p:cNvPr>
          <p:cNvCxnSpPr>
            <a:cxnSpLocks/>
            <a:stCxn id="163" idx="0"/>
            <a:endCxn id="164" idx="2"/>
          </p:cNvCxnSpPr>
          <p:nvPr/>
        </p:nvCxnSpPr>
        <p:spPr>
          <a:xfrm flipV="1">
            <a:off x="10474389" y="3765031"/>
            <a:ext cx="3111" cy="12512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화살표 연결선 167">
            <a:extLst>
              <a:ext uri="{FF2B5EF4-FFF2-40B4-BE49-F238E27FC236}">
                <a16:creationId xmlns:a16="http://schemas.microsoft.com/office/drawing/2014/main" id="{B2E55F16-9A0D-5E94-A84F-39A7326169DA}"/>
              </a:ext>
            </a:extLst>
          </p:cNvPr>
          <p:cNvCxnSpPr>
            <a:cxnSpLocks/>
            <a:stCxn id="30" idx="3"/>
            <a:endCxn id="163" idx="1"/>
          </p:cNvCxnSpPr>
          <p:nvPr/>
        </p:nvCxnSpPr>
        <p:spPr>
          <a:xfrm flipV="1">
            <a:off x="8283398" y="5831464"/>
            <a:ext cx="666991" cy="548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TextBox 170">
            <a:extLst>
              <a:ext uri="{FF2B5EF4-FFF2-40B4-BE49-F238E27FC236}">
                <a16:creationId xmlns:a16="http://schemas.microsoft.com/office/drawing/2014/main" id="{688219DE-5EF4-064B-025E-80164779BC9F}"/>
              </a:ext>
            </a:extLst>
          </p:cNvPr>
          <p:cNvSpPr txBox="1"/>
          <p:nvPr/>
        </p:nvSpPr>
        <p:spPr>
          <a:xfrm>
            <a:off x="8256331" y="5462132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NO</a:t>
            </a:r>
            <a:endParaRPr lang="ko-KR" altLang="en-US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2B113B2F-CFCB-0883-1BB2-DEBD7382C14A}"/>
              </a:ext>
            </a:extLst>
          </p:cNvPr>
          <p:cNvSpPr txBox="1"/>
          <p:nvPr/>
        </p:nvSpPr>
        <p:spPr>
          <a:xfrm>
            <a:off x="10436437" y="4726027"/>
            <a:ext cx="512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YES</a:t>
            </a:r>
            <a:endParaRPr lang="ko-KR" altLang="en-US" dirty="0"/>
          </a:p>
        </p:txBody>
      </p:sp>
      <p:sp>
        <p:nvSpPr>
          <p:cNvPr id="173" name="사각형: 둥근 모서리 172">
            <a:extLst>
              <a:ext uri="{FF2B5EF4-FFF2-40B4-BE49-F238E27FC236}">
                <a16:creationId xmlns:a16="http://schemas.microsoft.com/office/drawing/2014/main" id="{ACE9FDCC-E45D-8DBA-E2D5-427DDF3BDCE0}"/>
              </a:ext>
            </a:extLst>
          </p:cNvPr>
          <p:cNvSpPr/>
          <p:nvPr/>
        </p:nvSpPr>
        <p:spPr>
          <a:xfrm>
            <a:off x="13660252" y="4884681"/>
            <a:ext cx="2362200" cy="1752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본인 인증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SNS </a:t>
            </a:r>
            <a:r>
              <a:rPr lang="ko-KR" altLang="en-US" sz="1600" dirty="0">
                <a:solidFill>
                  <a:schemeClr val="tx1"/>
                </a:solidFill>
              </a:rPr>
              <a:t>문자 송신</a:t>
            </a:r>
          </a:p>
        </p:txBody>
      </p:sp>
      <p:sp>
        <p:nvSpPr>
          <p:cNvPr id="174" name="오각형 173">
            <a:extLst>
              <a:ext uri="{FF2B5EF4-FFF2-40B4-BE49-F238E27FC236}">
                <a16:creationId xmlns:a16="http://schemas.microsoft.com/office/drawing/2014/main" id="{CB97D04F-F9A8-7327-6572-2365500B800C}"/>
              </a:ext>
            </a:extLst>
          </p:cNvPr>
          <p:cNvSpPr/>
          <p:nvPr/>
        </p:nvSpPr>
        <p:spPr>
          <a:xfrm>
            <a:off x="12562662" y="5596447"/>
            <a:ext cx="609600" cy="609595"/>
          </a:xfrm>
          <a:prstGeom prst="pentagon">
            <a:avLst/>
          </a:prstGeom>
          <a:solidFill>
            <a:srgbClr val="FFFF00"/>
          </a:solidFill>
          <a:ln w="444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A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cxnSp>
        <p:nvCxnSpPr>
          <p:cNvPr id="175" name="직선 화살표 연결선 174">
            <a:extLst>
              <a:ext uri="{FF2B5EF4-FFF2-40B4-BE49-F238E27FC236}">
                <a16:creationId xmlns:a16="http://schemas.microsoft.com/office/drawing/2014/main" id="{9FE6C9A8-35B2-692A-A400-927B3EB61707}"/>
              </a:ext>
            </a:extLst>
          </p:cNvPr>
          <p:cNvCxnSpPr>
            <a:cxnSpLocks/>
            <a:stCxn id="163" idx="3"/>
            <a:endCxn id="174" idx="1"/>
          </p:cNvCxnSpPr>
          <p:nvPr/>
        </p:nvCxnSpPr>
        <p:spPr>
          <a:xfrm flipV="1">
            <a:off x="11998389" y="5829291"/>
            <a:ext cx="564274" cy="21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사각형: 둥근 모서리 179">
            <a:extLst>
              <a:ext uri="{FF2B5EF4-FFF2-40B4-BE49-F238E27FC236}">
                <a16:creationId xmlns:a16="http://schemas.microsoft.com/office/drawing/2014/main" id="{ED8FC541-CD8D-2705-CB01-7AE7AC1EC14D}"/>
              </a:ext>
            </a:extLst>
          </p:cNvPr>
          <p:cNvSpPr/>
          <p:nvPr/>
        </p:nvSpPr>
        <p:spPr>
          <a:xfrm>
            <a:off x="13660252" y="11230093"/>
            <a:ext cx="2362200" cy="1752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유가족 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SNS </a:t>
            </a:r>
            <a:r>
              <a:rPr lang="ko-KR" altLang="en-US" sz="1600" dirty="0">
                <a:solidFill>
                  <a:schemeClr val="tx1"/>
                </a:solidFill>
              </a:rPr>
              <a:t>문자 인증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cxnSp>
        <p:nvCxnSpPr>
          <p:cNvPr id="181" name="직선 화살표 연결선 180">
            <a:extLst>
              <a:ext uri="{FF2B5EF4-FFF2-40B4-BE49-F238E27FC236}">
                <a16:creationId xmlns:a16="http://schemas.microsoft.com/office/drawing/2014/main" id="{EF0369EF-E817-B88B-69BA-A6A44695D2F2}"/>
              </a:ext>
            </a:extLst>
          </p:cNvPr>
          <p:cNvCxnSpPr>
            <a:cxnSpLocks/>
            <a:stCxn id="173" idx="2"/>
            <a:endCxn id="180" idx="0"/>
          </p:cNvCxnSpPr>
          <p:nvPr/>
        </p:nvCxnSpPr>
        <p:spPr>
          <a:xfrm>
            <a:off x="14841352" y="6637281"/>
            <a:ext cx="0" cy="45928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15666C18-8CB4-D57B-0DE3-73291405CAAB}"/>
              </a:ext>
            </a:extLst>
          </p:cNvPr>
          <p:cNvSpPr/>
          <p:nvPr/>
        </p:nvSpPr>
        <p:spPr>
          <a:xfrm>
            <a:off x="17035365" y="2012431"/>
            <a:ext cx="2362200" cy="1752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유가족 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인증 문자 입력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cxnSp>
        <p:nvCxnSpPr>
          <p:cNvPr id="189" name="연결선: 꺾임 188">
            <a:extLst>
              <a:ext uri="{FF2B5EF4-FFF2-40B4-BE49-F238E27FC236}">
                <a16:creationId xmlns:a16="http://schemas.microsoft.com/office/drawing/2014/main" id="{C197ECC5-9B15-F4FB-1D81-727D9C103F00}"/>
              </a:ext>
            </a:extLst>
          </p:cNvPr>
          <p:cNvCxnSpPr>
            <a:cxnSpLocks/>
            <a:stCxn id="180" idx="3"/>
            <a:endCxn id="187" idx="1"/>
          </p:cNvCxnSpPr>
          <p:nvPr/>
        </p:nvCxnSpPr>
        <p:spPr>
          <a:xfrm flipV="1">
            <a:off x="16022452" y="2888731"/>
            <a:ext cx="1012913" cy="9217662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연결선: 꺾임 191">
            <a:extLst>
              <a:ext uri="{FF2B5EF4-FFF2-40B4-BE49-F238E27FC236}">
                <a16:creationId xmlns:a16="http://schemas.microsoft.com/office/drawing/2014/main" id="{A0D3BB58-31A0-4DFD-CF0D-73F6BBC460EB}"/>
              </a:ext>
            </a:extLst>
          </p:cNvPr>
          <p:cNvCxnSpPr>
            <a:cxnSpLocks/>
            <a:stCxn id="187" idx="2"/>
            <a:endCxn id="107" idx="1"/>
          </p:cNvCxnSpPr>
          <p:nvPr/>
        </p:nvCxnSpPr>
        <p:spPr>
          <a:xfrm rot="16200000" flipH="1">
            <a:off x="17657056" y="4324440"/>
            <a:ext cx="2121673" cy="1002854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오각형 194">
            <a:extLst>
              <a:ext uri="{FF2B5EF4-FFF2-40B4-BE49-F238E27FC236}">
                <a16:creationId xmlns:a16="http://schemas.microsoft.com/office/drawing/2014/main" id="{88933804-9F3D-C37B-0CD9-5B52DBAC281D}"/>
              </a:ext>
            </a:extLst>
          </p:cNvPr>
          <p:cNvSpPr/>
          <p:nvPr/>
        </p:nvSpPr>
        <p:spPr>
          <a:xfrm>
            <a:off x="22855997" y="5644918"/>
            <a:ext cx="609600" cy="609595"/>
          </a:xfrm>
          <a:prstGeom prst="pentagon">
            <a:avLst/>
          </a:prstGeom>
          <a:solidFill>
            <a:srgbClr val="FFFF00"/>
          </a:solidFill>
          <a:ln w="444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B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cxnSp>
        <p:nvCxnSpPr>
          <p:cNvPr id="196" name="직선 화살표 연결선 195">
            <a:extLst>
              <a:ext uri="{FF2B5EF4-FFF2-40B4-BE49-F238E27FC236}">
                <a16:creationId xmlns:a16="http://schemas.microsoft.com/office/drawing/2014/main" id="{280CBA4B-5193-C99C-A1A6-01A83D15EC4D}"/>
              </a:ext>
            </a:extLst>
          </p:cNvPr>
          <p:cNvCxnSpPr>
            <a:cxnSpLocks/>
            <a:stCxn id="107" idx="3"/>
            <a:endCxn id="195" idx="1"/>
          </p:cNvCxnSpPr>
          <p:nvPr/>
        </p:nvCxnSpPr>
        <p:spPr>
          <a:xfrm flipV="1">
            <a:off x="22267319" y="5877762"/>
            <a:ext cx="588679" cy="89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연결선: 꺾임 197">
            <a:extLst>
              <a:ext uri="{FF2B5EF4-FFF2-40B4-BE49-F238E27FC236}">
                <a16:creationId xmlns:a16="http://schemas.microsoft.com/office/drawing/2014/main" id="{B5E4650B-99B0-9B69-7957-8B59C56AA14A}"/>
              </a:ext>
            </a:extLst>
          </p:cNvPr>
          <p:cNvCxnSpPr>
            <a:cxnSpLocks/>
            <a:stCxn id="107" idx="0"/>
            <a:endCxn id="164" idx="0"/>
          </p:cNvCxnSpPr>
          <p:nvPr/>
        </p:nvCxnSpPr>
        <p:spPr>
          <a:xfrm rot="16200000" flipV="1">
            <a:off x="14080852" y="-1590921"/>
            <a:ext cx="3059116" cy="10265819"/>
          </a:xfrm>
          <a:prstGeom prst="bentConnector3">
            <a:avLst>
              <a:gd name="adj1" fmla="val 11174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TextBox 200">
            <a:extLst>
              <a:ext uri="{FF2B5EF4-FFF2-40B4-BE49-F238E27FC236}">
                <a16:creationId xmlns:a16="http://schemas.microsoft.com/office/drawing/2014/main" id="{02EBFEB5-5444-604F-E288-1AD2B907AEBD}"/>
              </a:ext>
            </a:extLst>
          </p:cNvPr>
          <p:cNvSpPr txBox="1"/>
          <p:nvPr/>
        </p:nvSpPr>
        <p:spPr>
          <a:xfrm>
            <a:off x="20697570" y="4775814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NO</a:t>
            </a:r>
            <a:endParaRPr lang="ko-KR" altLang="en-US" dirty="0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BD4F1F70-C091-6554-A02F-6C94244BBF82}"/>
              </a:ext>
            </a:extLst>
          </p:cNvPr>
          <p:cNvSpPr txBox="1"/>
          <p:nvPr/>
        </p:nvSpPr>
        <p:spPr>
          <a:xfrm>
            <a:off x="22267319" y="5496512"/>
            <a:ext cx="512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YES</a:t>
            </a:r>
            <a:endParaRPr lang="ko-KR" altLang="en-US" dirty="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365563B1-5B79-80E5-0E21-C9DD2CBAD33F}"/>
              </a:ext>
            </a:extLst>
          </p:cNvPr>
          <p:cNvSpPr txBox="1"/>
          <p:nvPr/>
        </p:nvSpPr>
        <p:spPr>
          <a:xfrm>
            <a:off x="11973984" y="5425626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NO</a:t>
            </a:r>
            <a:endParaRPr lang="ko-KR" altLang="en-US" dirty="0"/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45072584-E8A5-C1D7-988E-61C2C04B6400}"/>
              </a:ext>
            </a:extLst>
          </p:cNvPr>
          <p:cNvSpPr txBox="1"/>
          <p:nvPr/>
        </p:nvSpPr>
        <p:spPr>
          <a:xfrm>
            <a:off x="5539273" y="1576979"/>
            <a:ext cx="2209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/>
              <a:t>[S010]</a:t>
            </a:r>
            <a:endParaRPr lang="ko-KR" altLang="en-US" sz="2400" b="1" dirty="0"/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F8055C79-C859-D2DE-EB91-D36AD0B2D2B0}"/>
              </a:ext>
            </a:extLst>
          </p:cNvPr>
          <p:cNvSpPr txBox="1"/>
          <p:nvPr/>
        </p:nvSpPr>
        <p:spPr>
          <a:xfrm>
            <a:off x="9346314" y="1560326"/>
            <a:ext cx="11842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/>
              <a:t>[S100]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474159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DD337-ED0C-9F6B-6ED4-9C794549B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>
            <a:extLst>
              <a:ext uri="{FF2B5EF4-FFF2-40B4-BE49-F238E27FC236}">
                <a16:creationId xmlns:a16="http://schemas.microsoft.com/office/drawing/2014/main" id="{F315674A-250C-E98A-7EB2-7AF16F00BA1B}"/>
              </a:ext>
            </a:extLst>
          </p:cNvPr>
          <p:cNvGrpSpPr/>
          <p:nvPr/>
        </p:nvGrpSpPr>
        <p:grpSpPr>
          <a:xfrm>
            <a:off x="381000" y="1447800"/>
            <a:ext cx="23622000" cy="11887200"/>
            <a:chOff x="381000" y="1447800"/>
            <a:chExt cx="23622000" cy="1188720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332045C-68F9-0D72-05F2-E72A8735DF0C}"/>
                </a:ext>
              </a:extLst>
            </p:cNvPr>
            <p:cNvSpPr/>
            <p:nvPr/>
          </p:nvSpPr>
          <p:spPr>
            <a:xfrm>
              <a:off x="381000" y="1447800"/>
              <a:ext cx="23622000" cy="118872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6DB4710E-7044-CBFF-6665-CC04C8E065C7}"/>
                </a:ext>
              </a:extLst>
            </p:cNvPr>
            <p:cNvCxnSpPr>
              <a:cxnSpLocks/>
              <a:stCxn id="9" idx="1"/>
            </p:cNvCxnSpPr>
            <p:nvPr/>
          </p:nvCxnSpPr>
          <p:spPr>
            <a:xfrm>
              <a:off x="381000" y="7391400"/>
              <a:ext cx="2362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072EEEAD-CAE1-4A99-3E00-2657B68D3E98}"/>
                </a:ext>
              </a:extLst>
            </p:cNvPr>
            <p:cNvCxnSpPr/>
            <p:nvPr/>
          </p:nvCxnSpPr>
          <p:spPr>
            <a:xfrm>
              <a:off x="381000" y="4341844"/>
              <a:ext cx="2362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7F070E9F-FF45-6007-EC1E-7B2323250D01}"/>
                </a:ext>
              </a:extLst>
            </p:cNvPr>
            <p:cNvCxnSpPr/>
            <p:nvPr/>
          </p:nvCxnSpPr>
          <p:spPr>
            <a:xfrm>
              <a:off x="381000" y="10287000"/>
              <a:ext cx="2362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C76D7BD3-EA84-70F0-AF04-A8053D5DC2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5400" y="1447800"/>
              <a:ext cx="152400" cy="11887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148C882-9A61-936B-DC60-52AD3A21F4F3}"/>
                </a:ext>
              </a:extLst>
            </p:cNvPr>
            <p:cNvSpPr/>
            <p:nvPr/>
          </p:nvSpPr>
          <p:spPr>
            <a:xfrm rot="16200000">
              <a:off x="-435533" y="2457189"/>
              <a:ext cx="2586368" cy="8381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유가족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53FF7159-D57C-E6EC-5439-167BD336C578}"/>
                </a:ext>
              </a:extLst>
            </p:cNvPr>
            <p:cNvSpPr/>
            <p:nvPr/>
          </p:nvSpPr>
          <p:spPr>
            <a:xfrm rot="16200000">
              <a:off x="-454217" y="5370556"/>
              <a:ext cx="2586368" cy="8381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중계 플랫폼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532E573B-0F58-ACE1-0F7F-8DF057C8A884}"/>
                </a:ext>
              </a:extLst>
            </p:cNvPr>
            <p:cNvSpPr/>
            <p:nvPr/>
          </p:nvSpPr>
          <p:spPr>
            <a:xfrm rot="16200000">
              <a:off x="-472866" y="8440316"/>
              <a:ext cx="2586368" cy="79777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상조회사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52486DE-D66D-39B9-6866-FC4B403027B0}"/>
                </a:ext>
              </a:extLst>
            </p:cNvPr>
            <p:cNvSpPr/>
            <p:nvPr/>
          </p:nvSpPr>
          <p:spPr>
            <a:xfrm rot="16200000">
              <a:off x="-464300" y="11344482"/>
              <a:ext cx="2586368" cy="780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국세청</a:t>
              </a:r>
              <a:r>
                <a:rPr lang="en-US" altLang="ko-KR" dirty="0">
                  <a:solidFill>
                    <a:schemeClr val="tx1"/>
                  </a:solidFill>
                </a:rPr>
                <a:t>/SNS/PG</a:t>
              </a:r>
              <a:r>
                <a:rPr lang="ko-KR" altLang="en-US" dirty="0">
                  <a:solidFill>
                    <a:schemeClr val="tx1"/>
                  </a:solidFill>
                </a:rPr>
                <a:t>사</a:t>
              </a:r>
            </a:p>
          </p:txBody>
        </p:sp>
      </p:grpSp>
      <p:sp>
        <p:nvSpPr>
          <p:cNvPr id="123" name="TextBox 122">
            <a:extLst>
              <a:ext uri="{FF2B5EF4-FFF2-40B4-BE49-F238E27FC236}">
                <a16:creationId xmlns:a16="http://schemas.microsoft.com/office/drawing/2014/main" id="{4BC9946B-6E4F-A34B-0DD0-4B491E6FF350}"/>
              </a:ext>
            </a:extLst>
          </p:cNvPr>
          <p:cNvSpPr txBox="1"/>
          <p:nvPr/>
        </p:nvSpPr>
        <p:spPr>
          <a:xfrm>
            <a:off x="264500" y="571500"/>
            <a:ext cx="84064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sz="3200" b="1" dirty="0"/>
              <a:t>단계별 운영 프로세스</a:t>
            </a:r>
            <a:r>
              <a:rPr lang="en-US" altLang="ko-KR" sz="3200" b="1" dirty="0"/>
              <a:t> (</a:t>
            </a:r>
            <a:r>
              <a:rPr lang="ko-KR" altLang="en-US" sz="3200" b="1" dirty="0"/>
              <a:t>공간다원 </a:t>
            </a:r>
            <a:r>
              <a:rPr lang="en-US" altLang="ko-KR" sz="3200" b="1" dirty="0"/>
              <a:t>: </a:t>
            </a:r>
            <a:r>
              <a:rPr lang="ko-KR" altLang="en-US" sz="3200" b="1" dirty="0" err="1"/>
              <a:t>하늘꽃송이</a:t>
            </a:r>
            <a:r>
              <a:rPr lang="en-US" altLang="ko-KR" sz="3200" b="1" dirty="0"/>
              <a:t>)</a:t>
            </a:r>
            <a:endParaRPr lang="ko-KR" altLang="en-US" sz="3200" dirty="0"/>
          </a:p>
        </p:txBody>
      </p:sp>
      <p:sp>
        <p:nvSpPr>
          <p:cNvPr id="174" name="오각형 173">
            <a:extLst>
              <a:ext uri="{FF2B5EF4-FFF2-40B4-BE49-F238E27FC236}">
                <a16:creationId xmlns:a16="http://schemas.microsoft.com/office/drawing/2014/main" id="{29F77EC1-7621-6DA0-2DA9-F098404F9154}"/>
              </a:ext>
            </a:extLst>
          </p:cNvPr>
          <p:cNvSpPr/>
          <p:nvPr/>
        </p:nvSpPr>
        <p:spPr>
          <a:xfrm>
            <a:off x="1476089" y="8789542"/>
            <a:ext cx="609600" cy="609595"/>
          </a:xfrm>
          <a:prstGeom prst="pentagon">
            <a:avLst/>
          </a:prstGeom>
          <a:solidFill>
            <a:srgbClr val="FFFF00"/>
          </a:solidFill>
          <a:ln w="444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A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B626D6E-F6CE-D6CC-CFCC-835299A830EB}"/>
              </a:ext>
            </a:extLst>
          </p:cNvPr>
          <p:cNvSpPr/>
          <p:nvPr/>
        </p:nvSpPr>
        <p:spPr>
          <a:xfrm>
            <a:off x="2447736" y="8150424"/>
            <a:ext cx="2362200" cy="1752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상조 회사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상세 정보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( </a:t>
            </a:r>
            <a:r>
              <a:rPr lang="ko-KR" altLang="en-US" sz="1600" dirty="0">
                <a:solidFill>
                  <a:schemeClr val="tx1"/>
                </a:solidFill>
              </a:rPr>
              <a:t>사업자등록번호</a:t>
            </a:r>
            <a:r>
              <a:rPr lang="en-US" altLang="ko-KR" sz="1600" dirty="0">
                <a:solidFill>
                  <a:schemeClr val="tx1"/>
                </a:solidFill>
              </a:rPr>
              <a:t>,</a:t>
            </a: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회사대표 이메일 </a:t>
            </a:r>
            <a:r>
              <a:rPr lang="en-US" altLang="ko-KR" sz="1600" dirty="0">
                <a:solidFill>
                  <a:schemeClr val="tx1"/>
                </a:solidFill>
              </a:rPr>
              <a:t>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2349C9E5-38EE-773E-5272-2403C36ECF1B}"/>
              </a:ext>
            </a:extLst>
          </p:cNvPr>
          <p:cNvCxnSpPr>
            <a:cxnSpLocks/>
            <a:stCxn id="174" idx="5"/>
            <a:endCxn id="3" idx="1"/>
          </p:cNvCxnSpPr>
          <p:nvPr/>
        </p:nvCxnSpPr>
        <p:spPr>
          <a:xfrm>
            <a:off x="2085688" y="9022386"/>
            <a:ext cx="362048" cy="433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5C270C6-6871-8F3D-C30C-C3438E31E326}"/>
              </a:ext>
            </a:extLst>
          </p:cNvPr>
          <p:cNvSpPr/>
          <p:nvPr/>
        </p:nvSpPr>
        <p:spPr>
          <a:xfrm>
            <a:off x="2442435" y="11108273"/>
            <a:ext cx="2362200" cy="1752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국세청 사업자 정보 조회 </a:t>
            </a:r>
            <a:r>
              <a:rPr lang="en-US" altLang="ko-KR" sz="1600" dirty="0">
                <a:solidFill>
                  <a:schemeClr val="tx1"/>
                </a:solidFill>
              </a:rPr>
              <a:t>API</a:t>
            </a: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1B8D73F2-3229-8C8E-D41D-16AD3D871A30}"/>
              </a:ext>
            </a:extLst>
          </p:cNvPr>
          <p:cNvCxnSpPr>
            <a:stCxn id="3" idx="2"/>
            <a:endCxn id="16" idx="0"/>
          </p:cNvCxnSpPr>
          <p:nvPr/>
        </p:nvCxnSpPr>
        <p:spPr>
          <a:xfrm flipH="1">
            <a:off x="3623535" y="9903024"/>
            <a:ext cx="5301" cy="1205249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3B19440-6F78-BCC9-0922-F32BC45A12B8}"/>
              </a:ext>
            </a:extLst>
          </p:cNvPr>
          <p:cNvSpPr/>
          <p:nvPr/>
        </p:nvSpPr>
        <p:spPr>
          <a:xfrm>
            <a:off x="5357695" y="4926430"/>
            <a:ext cx="2362200" cy="1752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상조회사 인증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이메일 송신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89C1F8D4-5C52-68A8-48E5-62BDA7D0402D}"/>
              </a:ext>
            </a:extLst>
          </p:cNvPr>
          <p:cNvSpPr/>
          <p:nvPr/>
        </p:nvSpPr>
        <p:spPr>
          <a:xfrm>
            <a:off x="5357695" y="11108273"/>
            <a:ext cx="2362200" cy="1752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상조회사 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이메일 인증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9D06B56D-B745-E255-3547-BC80D067D534}"/>
              </a:ext>
            </a:extLst>
          </p:cNvPr>
          <p:cNvCxnSpPr>
            <a:cxnSpLocks/>
            <a:stCxn id="3" idx="3"/>
            <a:endCxn id="25" idx="1"/>
          </p:cNvCxnSpPr>
          <p:nvPr/>
        </p:nvCxnSpPr>
        <p:spPr>
          <a:xfrm flipV="1">
            <a:off x="4809936" y="5802730"/>
            <a:ext cx="547759" cy="3223994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순서도: 판단 42">
            <a:extLst>
              <a:ext uri="{FF2B5EF4-FFF2-40B4-BE49-F238E27FC236}">
                <a16:creationId xmlns:a16="http://schemas.microsoft.com/office/drawing/2014/main" id="{6DD0D1B9-23E0-605B-BCD8-51C1723650A1}"/>
              </a:ext>
            </a:extLst>
          </p:cNvPr>
          <p:cNvSpPr/>
          <p:nvPr/>
        </p:nvSpPr>
        <p:spPr>
          <a:xfrm>
            <a:off x="9909112" y="8243526"/>
            <a:ext cx="3048000" cy="1630314"/>
          </a:xfrm>
          <a:prstGeom prst="flowChartDecisi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상조회사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이메일 인증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검증 정상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EC736366-3557-69D5-B40D-A3730D98C3E3}"/>
              </a:ext>
            </a:extLst>
          </p:cNvPr>
          <p:cNvSpPr/>
          <p:nvPr/>
        </p:nvSpPr>
        <p:spPr>
          <a:xfrm>
            <a:off x="8201017" y="4923156"/>
            <a:ext cx="2362200" cy="1752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상조회사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인증 이메일 확인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5FD0960F-1AE5-3C20-6AD4-C22D85286C1A}"/>
              </a:ext>
            </a:extLst>
          </p:cNvPr>
          <p:cNvCxnSpPr>
            <a:cxnSpLocks/>
            <a:stCxn id="45" idx="2"/>
            <a:endCxn id="43" idx="1"/>
          </p:cNvCxnSpPr>
          <p:nvPr/>
        </p:nvCxnSpPr>
        <p:spPr>
          <a:xfrm rot="16200000" flipH="1">
            <a:off x="8454151" y="7603721"/>
            <a:ext cx="2382927" cy="526995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오각형 47">
            <a:extLst>
              <a:ext uri="{FF2B5EF4-FFF2-40B4-BE49-F238E27FC236}">
                <a16:creationId xmlns:a16="http://schemas.microsoft.com/office/drawing/2014/main" id="{0F72EFA8-FF8E-326D-A1B8-63FD4091D195}"/>
              </a:ext>
            </a:extLst>
          </p:cNvPr>
          <p:cNvSpPr/>
          <p:nvPr/>
        </p:nvSpPr>
        <p:spPr>
          <a:xfrm>
            <a:off x="22797123" y="8836081"/>
            <a:ext cx="609600" cy="609595"/>
          </a:xfrm>
          <a:prstGeom prst="pentagon">
            <a:avLst/>
          </a:prstGeom>
          <a:solidFill>
            <a:srgbClr val="FFFF00"/>
          </a:solidFill>
          <a:ln w="444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B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6369A7B-4367-D30D-8C13-DC0E4E948B1C}"/>
              </a:ext>
            </a:extLst>
          </p:cNvPr>
          <p:cNvSpPr txBox="1"/>
          <p:nvPr/>
        </p:nvSpPr>
        <p:spPr>
          <a:xfrm>
            <a:off x="11387363" y="7947793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NO</a:t>
            </a:r>
            <a:endParaRPr lang="ko-KR" altLang="en-US" dirty="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82F8530A-2995-6BBC-4516-FF37DC8EBAA8}"/>
              </a:ext>
            </a:extLst>
          </p:cNvPr>
          <p:cNvSpPr/>
          <p:nvPr/>
        </p:nvSpPr>
        <p:spPr>
          <a:xfrm>
            <a:off x="13537071" y="8197774"/>
            <a:ext cx="2362200" cy="1752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상조회사 파트너 입점 계약서 작성</a:t>
            </a:r>
          </a:p>
        </p:txBody>
      </p:sp>
      <p:sp>
        <p:nvSpPr>
          <p:cNvPr id="61" name="순서도: 판단 60">
            <a:extLst>
              <a:ext uri="{FF2B5EF4-FFF2-40B4-BE49-F238E27FC236}">
                <a16:creationId xmlns:a16="http://schemas.microsoft.com/office/drawing/2014/main" id="{190F40C9-07B7-8B88-D1CF-BA531BF17252}"/>
              </a:ext>
            </a:extLst>
          </p:cNvPr>
          <p:cNvSpPr/>
          <p:nvPr/>
        </p:nvSpPr>
        <p:spPr>
          <a:xfrm>
            <a:off x="16302575" y="8259726"/>
            <a:ext cx="3048000" cy="1630314"/>
          </a:xfrm>
          <a:prstGeom prst="flowChartDecisi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상조회사 파트너 입점 계약서 작성 완료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12BA500C-C859-B746-6A77-AED73E2A66E0}"/>
              </a:ext>
            </a:extLst>
          </p:cNvPr>
          <p:cNvSpPr/>
          <p:nvPr/>
        </p:nvSpPr>
        <p:spPr>
          <a:xfrm>
            <a:off x="19930534" y="8195313"/>
            <a:ext cx="2362200" cy="1752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하늘 꽃송이 운영 회사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가입 승인 처리</a:t>
            </a:r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D267C408-22BD-B1AF-241C-475B3A9A0E60}"/>
              </a:ext>
            </a:extLst>
          </p:cNvPr>
          <p:cNvCxnSpPr>
            <a:cxnSpLocks/>
            <a:stCxn id="43" idx="3"/>
            <a:endCxn id="60" idx="1"/>
          </p:cNvCxnSpPr>
          <p:nvPr/>
        </p:nvCxnSpPr>
        <p:spPr>
          <a:xfrm>
            <a:off x="12957112" y="9058683"/>
            <a:ext cx="579959" cy="153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6ED26A48-96B4-42BA-E483-DF48A1B52D82}"/>
              </a:ext>
            </a:extLst>
          </p:cNvPr>
          <p:cNvCxnSpPr>
            <a:cxnSpLocks/>
            <a:stCxn id="60" idx="3"/>
            <a:endCxn id="61" idx="1"/>
          </p:cNvCxnSpPr>
          <p:nvPr/>
        </p:nvCxnSpPr>
        <p:spPr>
          <a:xfrm>
            <a:off x="15899271" y="9074074"/>
            <a:ext cx="403304" cy="8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FA509D40-660C-FA22-85E7-6CCAD5DC5181}"/>
              </a:ext>
            </a:extLst>
          </p:cNvPr>
          <p:cNvCxnSpPr>
            <a:cxnSpLocks/>
            <a:stCxn id="61" idx="3"/>
            <a:endCxn id="62" idx="1"/>
          </p:cNvCxnSpPr>
          <p:nvPr/>
        </p:nvCxnSpPr>
        <p:spPr>
          <a:xfrm flipV="1">
            <a:off x="19350575" y="9071613"/>
            <a:ext cx="579959" cy="32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연결선: 꺾임 71">
            <a:extLst>
              <a:ext uri="{FF2B5EF4-FFF2-40B4-BE49-F238E27FC236}">
                <a16:creationId xmlns:a16="http://schemas.microsoft.com/office/drawing/2014/main" id="{E630DE6B-71D1-B00B-ADD7-A95241D0647A}"/>
              </a:ext>
            </a:extLst>
          </p:cNvPr>
          <p:cNvCxnSpPr>
            <a:cxnSpLocks/>
            <a:stCxn id="61" idx="0"/>
            <a:endCxn id="60" idx="0"/>
          </p:cNvCxnSpPr>
          <p:nvPr/>
        </p:nvCxnSpPr>
        <p:spPr>
          <a:xfrm rot="16200000" flipV="1">
            <a:off x="16241397" y="6674548"/>
            <a:ext cx="61952" cy="3108404"/>
          </a:xfrm>
          <a:prstGeom prst="bentConnector3">
            <a:avLst>
              <a:gd name="adj1" fmla="val 920826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EFC9F941-09CF-A9F7-EF5B-148A971842C7}"/>
              </a:ext>
            </a:extLst>
          </p:cNvPr>
          <p:cNvSpPr txBox="1"/>
          <p:nvPr/>
        </p:nvSpPr>
        <p:spPr>
          <a:xfrm>
            <a:off x="12989272" y="8708985"/>
            <a:ext cx="512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YES</a:t>
            </a:r>
            <a:endParaRPr lang="ko-KR" altLang="en-US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B208E6A-3A45-40F2-C474-8B7958F81324}"/>
              </a:ext>
            </a:extLst>
          </p:cNvPr>
          <p:cNvSpPr txBox="1"/>
          <p:nvPr/>
        </p:nvSpPr>
        <p:spPr>
          <a:xfrm>
            <a:off x="19317743" y="8694959"/>
            <a:ext cx="512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YES</a:t>
            </a:r>
            <a:endParaRPr lang="ko-KR" altLang="en-US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74A971E-6127-1A0D-47BD-4730A3830D24}"/>
              </a:ext>
            </a:extLst>
          </p:cNvPr>
          <p:cNvSpPr txBox="1"/>
          <p:nvPr/>
        </p:nvSpPr>
        <p:spPr>
          <a:xfrm>
            <a:off x="17832398" y="7947793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NO</a:t>
            </a:r>
            <a:endParaRPr lang="ko-KR" altLang="en-US" dirty="0"/>
          </a:p>
        </p:txBody>
      </p: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9BFD2592-985E-BC24-6B12-D2DD75C70CE9}"/>
              </a:ext>
            </a:extLst>
          </p:cNvPr>
          <p:cNvCxnSpPr>
            <a:cxnSpLocks/>
            <a:stCxn id="62" idx="3"/>
            <a:endCxn id="48" idx="1"/>
          </p:cNvCxnSpPr>
          <p:nvPr/>
        </p:nvCxnSpPr>
        <p:spPr>
          <a:xfrm flipV="1">
            <a:off x="22292734" y="9068925"/>
            <a:ext cx="504390" cy="26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연결선: 꺾임 85">
            <a:extLst>
              <a:ext uri="{FF2B5EF4-FFF2-40B4-BE49-F238E27FC236}">
                <a16:creationId xmlns:a16="http://schemas.microsoft.com/office/drawing/2014/main" id="{42FF82C2-2FE7-E071-8600-B44D996776B3}"/>
              </a:ext>
            </a:extLst>
          </p:cNvPr>
          <p:cNvCxnSpPr>
            <a:cxnSpLocks/>
            <a:stCxn id="26" idx="3"/>
            <a:endCxn id="45" idx="1"/>
          </p:cNvCxnSpPr>
          <p:nvPr/>
        </p:nvCxnSpPr>
        <p:spPr>
          <a:xfrm flipV="1">
            <a:off x="7719895" y="5799456"/>
            <a:ext cx="481122" cy="618511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2F753B7A-2DBE-2953-BDC8-91C8A6F34B01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6538795" y="6679030"/>
            <a:ext cx="0" cy="44292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연결선: 꺾임 92">
            <a:extLst>
              <a:ext uri="{FF2B5EF4-FFF2-40B4-BE49-F238E27FC236}">
                <a16:creationId xmlns:a16="http://schemas.microsoft.com/office/drawing/2014/main" id="{796C5571-B839-F85D-2D68-89CF3D4F34DC}"/>
              </a:ext>
            </a:extLst>
          </p:cNvPr>
          <p:cNvCxnSpPr>
            <a:cxnSpLocks/>
            <a:stCxn id="43" idx="0"/>
            <a:endCxn id="25" idx="0"/>
          </p:cNvCxnSpPr>
          <p:nvPr/>
        </p:nvCxnSpPr>
        <p:spPr>
          <a:xfrm rot="16200000" flipV="1">
            <a:off x="7327406" y="4137819"/>
            <a:ext cx="3317096" cy="4894317"/>
          </a:xfrm>
          <a:prstGeom prst="bentConnector3">
            <a:avLst>
              <a:gd name="adj1" fmla="val 110267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CEB0C217-CD96-D4B4-C025-63FB5830FC14}"/>
              </a:ext>
            </a:extLst>
          </p:cNvPr>
          <p:cNvSpPr txBox="1"/>
          <p:nvPr/>
        </p:nvSpPr>
        <p:spPr>
          <a:xfrm>
            <a:off x="2415635" y="7586631"/>
            <a:ext cx="10972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/>
              <a:t>[S020]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744565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A33F7-8560-EBEF-9990-A35868594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>
            <a:extLst>
              <a:ext uri="{FF2B5EF4-FFF2-40B4-BE49-F238E27FC236}">
                <a16:creationId xmlns:a16="http://schemas.microsoft.com/office/drawing/2014/main" id="{6C07C2CF-B530-75D8-359C-E2713FFF569D}"/>
              </a:ext>
            </a:extLst>
          </p:cNvPr>
          <p:cNvGrpSpPr/>
          <p:nvPr/>
        </p:nvGrpSpPr>
        <p:grpSpPr>
          <a:xfrm>
            <a:off x="381000" y="1447800"/>
            <a:ext cx="23622000" cy="11887200"/>
            <a:chOff x="381000" y="1447800"/>
            <a:chExt cx="23622000" cy="1188720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658F5082-7376-A8DD-EF48-453ACC98AA34}"/>
                </a:ext>
              </a:extLst>
            </p:cNvPr>
            <p:cNvSpPr/>
            <p:nvPr/>
          </p:nvSpPr>
          <p:spPr>
            <a:xfrm>
              <a:off x="381000" y="1447800"/>
              <a:ext cx="23622000" cy="118872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0C9CF3-07C4-DAEC-FCA0-5215325E4AFC}"/>
                </a:ext>
              </a:extLst>
            </p:cNvPr>
            <p:cNvCxnSpPr>
              <a:stCxn id="9" idx="1"/>
            </p:cNvCxnSpPr>
            <p:nvPr/>
          </p:nvCxnSpPr>
          <p:spPr>
            <a:xfrm>
              <a:off x="381000" y="7391400"/>
              <a:ext cx="2362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648A8DCF-FCC7-994D-5B5C-EFFA2CAF9961}"/>
                </a:ext>
              </a:extLst>
            </p:cNvPr>
            <p:cNvCxnSpPr/>
            <p:nvPr/>
          </p:nvCxnSpPr>
          <p:spPr>
            <a:xfrm>
              <a:off x="381000" y="4341844"/>
              <a:ext cx="2362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87BA5F00-E112-4250-CF83-9A4D582C7790}"/>
                </a:ext>
              </a:extLst>
            </p:cNvPr>
            <p:cNvCxnSpPr/>
            <p:nvPr/>
          </p:nvCxnSpPr>
          <p:spPr>
            <a:xfrm>
              <a:off x="381000" y="10287000"/>
              <a:ext cx="2362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1B4BF080-9E20-6E55-92F5-95630DB5D4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5400" y="1447800"/>
              <a:ext cx="152400" cy="11887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62D77672-8DB6-A4A5-0C8D-F4A71ADDFCEF}"/>
                </a:ext>
              </a:extLst>
            </p:cNvPr>
            <p:cNvSpPr/>
            <p:nvPr/>
          </p:nvSpPr>
          <p:spPr>
            <a:xfrm rot="16200000">
              <a:off x="-435533" y="2457189"/>
              <a:ext cx="2586368" cy="8381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유가족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535F21C8-9775-2317-A0DD-D00BEC3EC362}"/>
                </a:ext>
              </a:extLst>
            </p:cNvPr>
            <p:cNvSpPr/>
            <p:nvPr/>
          </p:nvSpPr>
          <p:spPr>
            <a:xfrm rot="16200000">
              <a:off x="-454217" y="5370556"/>
              <a:ext cx="2586368" cy="8381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중계 플랫폼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68A2CD3A-8FEB-A430-03E2-7457BEBE9BDD}"/>
                </a:ext>
              </a:extLst>
            </p:cNvPr>
            <p:cNvSpPr/>
            <p:nvPr/>
          </p:nvSpPr>
          <p:spPr>
            <a:xfrm rot="16200000">
              <a:off x="-472866" y="8440316"/>
              <a:ext cx="2586368" cy="79777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상조회사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D9E26F0C-D257-1E72-BA8D-62C4A9F3D96D}"/>
                </a:ext>
              </a:extLst>
            </p:cNvPr>
            <p:cNvSpPr/>
            <p:nvPr/>
          </p:nvSpPr>
          <p:spPr>
            <a:xfrm rot="16200000">
              <a:off x="-464300" y="11344482"/>
              <a:ext cx="2586368" cy="780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국세청</a:t>
              </a:r>
              <a:r>
                <a:rPr lang="en-US" altLang="ko-KR" dirty="0">
                  <a:solidFill>
                    <a:schemeClr val="tx1"/>
                  </a:solidFill>
                </a:rPr>
                <a:t>/SNS/PG</a:t>
              </a:r>
              <a:r>
                <a:rPr lang="ko-KR" altLang="en-US" dirty="0">
                  <a:solidFill>
                    <a:schemeClr val="tx1"/>
                  </a:solidFill>
                </a:rPr>
                <a:t>사</a:t>
              </a:r>
            </a:p>
          </p:txBody>
        </p:sp>
      </p:grp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3E5866C-00BC-FF2B-4B8D-76D7C449D4FE}"/>
              </a:ext>
            </a:extLst>
          </p:cNvPr>
          <p:cNvSpPr/>
          <p:nvPr/>
        </p:nvSpPr>
        <p:spPr>
          <a:xfrm>
            <a:off x="2647951" y="2134472"/>
            <a:ext cx="2362200" cy="175260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장례 비용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견적 요청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08AF774-E399-524F-2FA1-3D853D31A601}"/>
              </a:ext>
            </a:extLst>
          </p:cNvPr>
          <p:cNvSpPr/>
          <p:nvPr/>
        </p:nvSpPr>
        <p:spPr>
          <a:xfrm>
            <a:off x="2647951" y="7836646"/>
            <a:ext cx="2362200" cy="1752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서비스 지역 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및 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회사 연혁 등록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CB2F9AF-AC9D-9C86-346B-6A98C15CC897}"/>
              </a:ext>
            </a:extLst>
          </p:cNvPr>
          <p:cNvSpPr/>
          <p:nvPr/>
        </p:nvSpPr>
        <p:spPr>
          <a:xfrm>
            <a:off x="2647951" y="4787090"/>
            <a:ext cx="2362200" cy="1752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희망 장례식장 시</a:t>
            </a:r>
            <a:r>
              <a:rPr lang="en-US" altLang="ko-KR" sz="1600" dirty="0">
                <a:solidFill>
                  <a:schemeClr val="tx1"/>
                </a:solidFill>
              </a:rPr>
              <a:t>/</a:t>
            </a:r>
            <a:r>
              <a:rPr lang="ko-KR" altLang="en-US" sz="1600" dirty="0">
                <a:solidFill>
                  <a:schemeClr val="tx1"/>
                </a:solidFill>
              </a:rPr>
              <a:t>도 와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서비스 지역 매칭</a:t>
            </a: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8D97C5F9-0B45-696C-B0BA-5B804C7EF357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>
            <a:off x="3829051" y="3887072"/>
            <a:ext cx="0" cy="9000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F3796122-41E7-E50F-6520-3DC12215D823}"/>
              </a:ext>
            </a:extLst>
          </p:cNvPr>
          <p:cNvCxnSpPr>
            <a:cxnSpLocks/>
            <a:stCxn id="24" idx="0"/>
            <a:endCxn id="25" idx="2"/>
          </p:cNvCxnSpPr>
          <p:nvPr/>
        </p:nvCxnSpPr>
        <p:spPr>
          <a:xfrm flipV="1">
            <a:off x="3829051" y="6539690"/>
            <a:ext cx="0" cy="12969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E8FBF093-64B1-EDF9-99EF-02A5714A6769}"/>
              </a:ext>
            </a:extLst>
          </p:cNvPr>
          <p:cNvCxnSpPr>
            <a:cxnSpLocks/>
            <a:stCxn id="14" idx="0"/>
            <a:endCxn id="31" idx="2"/>
          </p:cNvCxnSpPr>
          <p:nvPr/>
        </p:nvCxnSpPr>
        <p:spPr>
          <a:xfrm flipV="1">
            <a:off x="7219951" y="6539690"/>
            <a:ext cx="0" cy="12779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E0FB767-E5D7-DC4A-40BB-104C73FB363C}"/>
              </a:ext>
            </a:extLst>
          </p:cNvPr>
          <p:cNvSpPr/>
          <p:nvPr/>
        </p:nvSpPr>
        <p:spPr>
          <a:xfrm>
            <a:off x="6038851" y="7817596"/>
            <a:ext cx="2362200" cy="1752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장례 비용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견적 작성 및 제출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(</a:t>
            </a:r>
            <a:r>
              <a:rPr lang="ko-KR" altLang="en-US" sz="1600" dirty="0">
                <a:solidFill>
                  <a:schemeClr val="tx1"/>
                </a:solidFill>
              </a:rPr>
              <a:t>견적요청 </a:t>
            </a:r>
            <a:r>
              <a:rPr lang="en-US" altLang="ko-KR" sz="1600" dirty="0">
                <a:solidFill>
                  <a:schemeClr val="tx1"/>
                </a:solidFill>
              </a:rPr>
              <a:t>1 </a:t>
            </a:r>
            <a:r>
              <a:rPr lang="ko-KR" altLang="en-US" sz="1600" dirty="0">
                <a:solidFill>
                  <a:schemeClr val="tx1"/>
                </a:solidFill>
              </a:rPr>
              <a:t>건에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상조 회사별 최대 </a:t>
            </a:r>
            <a:r>
              <a:rPr lang="en-US" altLang="ko-KR" sz="1600" dirty="0">
                <a:solidFill>
                  <a:schemeClr val="tx1"/>
                </a:solidFill>
              </a:rPr>
              <a:t>4</a:t>
            </a:r>
            <a:r>
              <a:rPr lang="ko-KR" altLang="en-US" sz="1600" dirty="0">
                <a:solidFill>
                  <a:schemeClr val="tx1"/>
                </a:solidFill>
              </a:rPr>
              <a:t>건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견적금액 제시</a:t>
            </a:r>
            <a:r>
              <a:rPr lang="en-US" altLang="ko-KR" sz="1600" dirty="0">
                <a:solidFill>
                  <a:schemeClr val="tx1"/>
                </a:solidFill>
              </a:rPr>
              <a:t>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C015FAB7-B4CC-977F-DCF6-ED2436B45509}"/>
              </a:ext>
            </a:extLst>
          </p:cNvPr>
          <p:cNvCxnSpPr>
            <a:cxnSpLocks/>
            <a:stCxn id="25" idx="3"/>
            <a:endCxn id="14" idx="1"/>
          </p:cNvCxnSpPr>
          <p:nvPr/>
        </p:nvCxnSpPr>
        <p:spPr>
          <a:xfrm>
            <a:off x="5010151" y="5663390"/>
            <a:ext cx="1028700" cy="3030506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D53C7B21-D989-26D2-E621-3EA734C3836C}"/>
              </a:ext>
            </a:extLst>
          </p:cNvPr>
          <p:cNvSpPr/>
          <p:nvPr/>
        </p:nvSpPr>
        <p:spPr>
          <a:xfrm>
            <a:off x="6038851" y="2134472"/>
            <a:ext cx="2362200" cy="1752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장례 비용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견적 제시 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금액 조회 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및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상조 업체 채택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78F08AFB-BCC3-1F62-AE01-67E7070C97AC}"/>
              </a:ext>
            </a:extLst>
          </p:cNvPr>
          <p:cNvSpPr/>
          <p:nvPr/>
        </p:nvSpPr>
        <p:spPr>
          <a:xfrm>
            <a:off x="6038851" y="4787090"/>
            <a:ext cx="2362200" cy="1752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장례 비용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견적 요청에 대한 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견적 제시 금액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매칭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F6FB9AF2-3609-F45E-24D3-B3D2F2052CCA}"/>
              </a:ext>
            </a:extLst>
          </p:cNvPr>
          <p:cNvCxnSpPr>
            <a:cxnSpLocks/>
            <a:stCxn id="31" idx="0"/>
            <a:endCxn id="30" idx="2"/>
          </p:cNvCxnSpPr>
          <p:nvPr/>
        </p:nvCxnSpPr>
        <p:spPr>
          <a:xfrm flipV="1">
            <a:off x="7219951" y="3887072"/>
            <a:ext cx="0" cy="9000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B7AB4722-7C8F-E366-022C-6E6ACDB27314}"/>
              </a:ext>
            </a:extLst>
          </p:cNvPr>
          <p:cNvSpPr/>
          <p:nvPr/>
        </p:nvSpPr>
        <p:spPr>
          <a:xfrm>
            <a:off x="9782352" y="4768040"/>
            <a:ext cx="2362200" cy="1752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장례 비용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상세 문의 위한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 err="1">
                <a:solidFill>
                  <a:schemeClr val="tx1"/>
                </a:solidFill>
              </a:rPr>
              <a:t>채팅방</a:t>
            </a:r>
            <a:r>
              <a:rPr lang="ko-KR" altLang="en-US" sz="1600" dirty="0">
                <a:solidFill>
                  <a:schemeClr val="tx1"/>
                </a:solidFill>
              </a:rPr>
              <a:t> 개설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(</a:t>
            </a:r>
            <a:r>
              <a:rPr lang="ko-KR" altLang="en-US" sz="1600" dirty="0">
                <a:solidFill>
                  <a:schemeClr val="tx1"/>
                </a:solidFill>
              </a:rPr>
              <a:t>유가족 </a:t>
            </a:r>
            <a:r>
              <a:rPr lang="en-US" altLang="ko-KR" sz="1600" dirty="0">
                <a:solidFill>
                  <a:schemeClr val="tx1"/>
                </a:solidFill>
              </a:rPr>
              <a:t>: </a:t>
            </a:r>
            <a:r>
              <a:rPr lang="ko-KR" altLang="en-US" sz="1600" dirty="0">
                <a:solidFill>
                  <a:schemeClr val="tx1"/>
                </a:solidFill>
              </a:rPr>
              <a:t>상조회사</a:t>
            </a:r>
            <a:r>
              <a:rPr lang="en-US" altLang="ko-KR" sz="16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42" name="구름 41">
            <a:extLst>
              <a:ext uri="{FF2B5EF4-FFF2-40B4-BE49-F238E27FC236}">
                <a16:creationId xmlns:a16="http://schemas.microsoft.com/office/drawing/2014/main" id="{F3CA0FEB-2A75-5DA7-AAF4-B06D97170AB8}"/>
              </a:ext>
            </a:extLst>
          </p:cNvPr>
          <p:cNvSpPr/>
          <p:nvPr/>
        </p:nvSpPr>
        <p:spPr>
          <a:xfrm>
            <a:off x="12459407" y="4806140"/>
            <a:ext cx="2583491" cy="1651322"/>
          </a:xfrm>
          <a:prstGeom prst="clou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채팅</a:t>
            </a: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DE69B97D-53D3-96E6-0E44-9E41F4F0E126}"/>
              </a:ext>
            </a:extLst>
          </p:cNvPr>
          <p:cNvCxnSpPr>
            <a:cxnSpLocks/>
            <a:stCxn id="41" idx="3"/>
            <a:endCxn id="42" idx="2"/>
          </p:cNvCxnSpPr>
          <p:nvPr/>
        </p:nvCxnSpPr>
        <p:spPr>
          <a:xfrm flipV="1">
            <a:off x="12144552" y="5631801"/>
            <a:ext cx="322869" cy="125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F7FA6E32-D443-985A-B349-39ADD8E09C78}"/>
              </a:ext>
            </a:extLst>
          </p:cNvPr>
          <p:cNvCxnSpPr>
            <a:cxnSpLocks/>
            <a:stCxn id="30" idx="3"/>
            <a:endCxn id="41" idx="0"/>
          </p:cNvCxnSpPr>
          <p:nvPr/>
        </p:nvCxnSpPr>
        <p:spPr>
          <a:xfrm>
            <a:off x="8401051" y="3010772"/>
            <a:ext cx="2562401" cy="175726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EA9E6D71-DC93-A309-67B4-9F9CCD2DC1FF}"/>
              </a:ext>
            </a:extLst>
          </p:cNvPr>
          <p:cNvSpPr/>
          <p:nvPr/>
        </p:nvSpPr>
        <p:spPr>
          <a:xfrm>
            <a:off x="12585448" y="2134472"/>
            <a:ext cx="2362200" cy="1752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장례 진행에 대한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상조 회사와 대화</a:t>
            </a: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5650CB1E-44AF-09DA-D9AD-E7163084C626}"/>
              </a:ext>
            </a:extLst>
          </p:cNvPr>
          <p:cNvCxnSpPr>
            <a:cxnSpLocks/>
            <a:stCxn id="56" idx="2"/>
            <a:endCxn id="42" idx="3"/>
          </p:cNvCxnSpPr>
          <p:nvPr/>
        </p:nvCxnSpPr>
        <p:spPr>
          <a:xfrm flipH="1">
            <a:off x="13751153" y="3887072"/>
            <a:ext cx="15395" cy="10134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BD92372E-409B-4237-B164-444119D65E13}"/>
              </a:ext>
            </a:extLst>
          </p:cNvPr>
          <p:cNvSpPr/>
          <p:nvPr/>
        </p:nvSpPr>
        <p:spPr>
          <a:xfrm>
            <a:off x="12570052" y="7812834"/>
            <a:ext cx="2362200" cy="1752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장례 진행에 대한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유가족과의 대화</a:t>
            </a: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07004F1F-BAED-AE3D-E7AB-C3F176397639}"/>
              </a:ext>
            </a:extLst>
          </p:cNvPr>
          <p:cNvCxnSpPr>
            <a:cxnSpLocks/>
            <a:stCxn id="67" idx="0"/>
            <a:endCxn id="42" idx="1"/>
          </p:cNvCxnSpPr>
          <p:nvPr/>
        </p:nvCxnSpPr>
        <p:spPr>
          <a:xfrm flipV="1">
            <a:off x="13751152" y="6455704"/>
            <a:ext cx="1" cy="13571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20CA4770-F26A-9C26-C0B8-4E17A82397A6}"/>
              </a:ext>
            </a:extLst>
          </p:cNvPr>
          <p:cNvSpPr/>
          <p:nvPr/>
        </p:nvSpPr>
        <p:spPr>
          <a:xfrm>
            <a:off x="15926987" y="2134472"/>
            <a:ext cx="2362200" cy="1752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유가족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정보 이용료 결제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( </a:t>
            </a:r>
            <a:r>
              <a:rPr lang="ko-KR" altLang="en-US" sz="1600" dirty="0">
                <a:solidFill>
                  <a:schemeClr val="tx1"/>
                </a:solidFill>
              </a:rPr>
              <a:t>정액 </a:t>
            </a:r>
            <a:r>
              <a:rPr lang="en-US" altLang="ko-KR" sz="1600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BC9F2F15-4F4D-2368-4F43-763C2E834493}"/>
              </a:ext>
            </a:extLst>
          </p:cNvPr>
          <p:cNvCxnSpPr>
            <a:cxnSpLocks/>
            <a:stCxn id="56" idx="3"/>
            <a:endCxn id="80" idx="1"/>
          </p:cNvCxnSpPr>
          <p:nvPr/>
        </p:nvCxnSpPr>
        <p:spPr>
          <a:xfrm>
            <a:off x="14947648" y="3010772"/>
            <a:ext cx="97933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C5899EFF-D5FC-EBDE-3E48-84C810547144}"/>
              </a:ext>
            </a:extLst>
          </p:cNvPr>
          <p:cNvSpPr/>
          <p:nvPr/>
        </p:nvSpPr>
        <p:spPr>
          <a:xfrm>
            <a:off x="15931712" y="4787090"/>
            <a:ext cx="2362200" cy="1752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PG</a:t>
            </a:r>
            <a:r>
              <a:rPr lang="ko-KR" altLang="en-US" sz="1600" dirty="0">
                <a:solidFill>
                  <a:schemeClr val="tx1"/>
                </a:solidFill>
              </a:rPr>
              <a:t>회사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결제 화면 연동</a:t>
            </a:r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76A214AD-40E8-BAAB-545E-6CDD18C6AAE5}"/>
              </a:ext>
            </a:extLst>
          </p:cNvPr>
          <p:cNvCxnSpPr>
            <a:cxnSpLocks/>
            <a:stCxn id="80" idx="2"/>
            <a:endCxn id="89" idx="0"/>
          </p:cNvCxnSpPr>
          <p:nvPr/>
        </p:nvCxnSpPr>
        <p:spPr>
          <a:xfrm>
            <a:off x="17108087" y="3887072"/>
            <a:ext cx="4725" cy="9000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7">
            <a:extLst>
              <a:ext uri="{FF2B5EF4-FFF2-40B4-BE49-F238E27FC236}">
                <a16:creationId xmlns:a16="http://schemas.microsoft.com/office/drawing/2014/main" id="{53D43B1A-4189-E3DE-BE69-A89CE430DF20}"/>
              </a:ext>
            </a:extLst>
          </p:cNvPr>
          <p:cNvGrpSpPr/>
          <p:nvPr/>
        </p:nvGrpSpPr>
        <p:grpSpPr>
          <a:xfrm>
            <a:off x="15926987" y="10440956"/>
            <a:ext cx="2395206" cy="2680019"/>
            <a:chOff x="14745888" y="10440956"/>
            <a:chExt cx="2395206" cy="2680019"/>
          </a:xfrm>
        </p:grpSpPr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35C4B06E-118D-B316-BC9E-4CAFC535D39A}"/>
                </a:ext>
              </a:extLst>
            </p:cNvPr>
            <p:cNvSpPr/>
            <p:nvPr/>
          </p:nvSpPr>
          <p:spPr>
            <a:xfrm>
              <a:off x="14745888" y="10440956"/>
              <a:ext cx="2362200" cy="121210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PG</a:t>
              </a:r>
              <a:r>
                <a:rPr lang="ko-KR" altLang="en-US" sz="1600" dirty="0">
                  <a:solidFill>
                    <a:schemeClr val="tx1"/>
                  </a:solidFill>
                </a:rPr>
                <a:t>회사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정보 이용료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결제</a:t>
              </a:r>
            </a:p>
          </p:txBody>
        </p:sp>
        <p:sp>
          <p:nvSpPr>
            <p:cNvPr id="123" name="사각형: 둥근 모서리 122">
              <a:extLst>
                <a:ext uri="{FF2B5EF4-FFF2-40B4-BE49-F238E27FC236}">
                  <a16:creationId xmlns:a16="http://schemas.microsoft.com/office/drawing/2014/main" id="{7128B8B0-932A-E1A8-A6D3-67A9196B165A}"/>
                </a:ext>
              </a:extLst>
            </p:cNvPr>
            <p:cNvSpPr/>
            <p:nvPr/>
          </p:nvSpPr>
          <p:spPr>
            <a:xfrm>
              <a:off x="14778894" y="11908871"/>
              <a:ext cx="2362200" cy="121210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유가족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정보 이용료 결제 완료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상조 회사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정보이용료 결제 요청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문자 전송</a:t>
              </a:r>
            </a:p>
          </p:txBody>
        </p:sp>
      </p:grpSp>
      <p:cxnSp>
        <p:nvCxnSpPr>
          <p:cNvPr id="124" name="연결선: 꺾임 123">
            <a:extLst>
              <a:ext uri="{FF2B5EF4-FFF2-40B4-BE49-F238E27FC236}">
                <a16:creationId xmlns:a16="http://schemas.microsoft.com/office/drawing/2014/main" id="{8FC86929-FFA1-C35F-C82C-B7D5ED056809}"/>
              </a:ext>
            </a:extLst>
          </p:cNvPr>
          <p:cNvCxnSpPr>
            <a:cxnSpLocks/>
            <a:stCxn id="89" idx="1"/>
            <a:endCxn id="123" idx="1"/>
          </p:cNvCxnSpPr>
          <p:nvPr/>
        </p:nvCxnSpPr>
        <p:spPr>
          <a:xfrm rot="10800000" flipH="1" flipV="1">
            <a:off x="15931711" y="5663389"/>
            <a:ext cx="28281" cy="6851533"/>
          </a:xfrm>
          <a:prstGeom prst="bentConnector3">
            <a:avLst>
              <a:gd name="adj1" fmla="val -808317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순서도: 판단 126">
            <a:extLst>
              <a:ext uri="{FF2B5EF4-FFF2-40B4-BE49-F238E27FC236}">
                <a16:creationId xmlns:a16="http://schemas.microsoft.com/office/drawing/2014/main" id="{A4BB087A-CE76-CB9D-E33E-F4A5C9FF9C48}"/>
              </a:ext>
            </a:extLst>
          </p:cNvPr>
          <p:cNvSpPr/>
          <p:nvPr/>
        </p:nvSpPr>
        <p:spPr>
          <a:xfrm>
            <a:off x="19088099" y="4848233"/>
            <a:ext cx="3048000" cy="1630314"/>
          </a:xfrm>
          <a:prstGeom prst="flowChartDecisi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정보이용료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결제 정상</a:t>
            </a:r>
          </a:p>
        </p:txBody>
      </p:sp>
      <p:cxnSp>
        <p:nvCxnSpPr>
          <p:cNvPr id="128" name="연결선: 꺾임 127">
            <a:extLst>
              <a:ext uri="{FF2B5EF4-FFF2-40B4-BE49-F238E27FC236}">
                <a16:creationId xmlns:a16="http://schemas.microsoft.com/office/drawing/2014/main" id="{D3585552-6D77-19DE-ADCF-F76B17A18366}"/>
              </a:ext>
            </a:extLst>
          </p:cNvPr>
          <p:cNvCxnSpPr>
            <a:cxnSpLocks/>
            <a:stCxn id="127" idx="0"/>
            <a:endCxn id="80" idx="3"/>
          </p:cNvCxnSpPr>
          <p:nvPr/>
        </p:nvCxnSpPr>
        <p:spPr>
          <a:xfrm rot="16200000" flipV="1">
            <a:off x="18531913" y="2768047"/>
            <a:ext cx="1837461" cy="232291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화살표 연결선 134">
            <a:extLst>
              <a:ext uri="{FF2B5EF4-FFF2-40B4-BE49-F238E27FC236}">
                <a16:creationId xmlns:a16="http://schemas.microsoft.com/office/drawing/2014/main" id="{8308BE8B-8755-55F7-68A5-952D01B892D4}"/>
              </a:ext>
            </a:extLst>
          </p:cNvPr>
          <p:cNvCxnSpPr>
            <a:cxnSpLocks/>
            <a:stCxn id="127" idx="3"/>
            <a:endCxn id="37" idx="1"/>
          </p:cNvCxnSpPr>
          <p:nvPr/>
        </p:nvCxnSpPr>
        <p:spPr>
          <a:xfrm>
            <a:off x="22136099" y="5663390"/>
            <a:ext cx="495302" cy="614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349C5AC5-5F9F-F8F4-B157-3A3B03BE5FBE}"/>
              </a:ext>
            </a:extLst>
          </p:cNvPr>
          <p:cNvSpPr txBox="1"/>
          <p:nvPr/>
        </p:nvSpPr>
        <p:spPr>
          <a:xfrm>
            <a:off x="20093881" y="4582371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NO</a:t>
            </a:r>
            <a:endParaRPr lang="ko-KR" altLang="en-US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31CF7274-BDAE-F82E-61AE-DF058AB148A1}"/>
              </a:ext>
            </a:extLst>
          </p:cNvPr>
          <p:cNvSpPr txBox="1"/>
          <p:nvPr/>
        </p:nvSpPr>
        <p:spPr>
          <a:xfrm>
            <a:off x="22034241" y="5283390"/>
            <a:ext cx="512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YES</a:t>
            </a:r>
            <a:endParaRPr lang="ko-KR" altLang="en-US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B9E642B2-5242-E628-A6B3-047B9B815AE8}"/>
              </a:ext>
            </a:extLst>
          </p:cNvPr>
          <p:cNvSpPr txBox="1"/>
          <p:nvPr/>
        </p:nvSpPr>
        <p:spPr>
          <a:xfrm>
            <a:off x="264500" y="571500"/>
            <a:ext cx="84064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sz="3200" b="1" dirty="0"/>
              <a:t>단계별 운영 프로세스</a:t>
            </a:r>
            <a:r>
              <a:rPr lang="en-US" altLang="ko-KR" sz="3200" b="1" dirty="0"/>
              <a:t> (</a:t>
            </a:r>
            <a:r>
              <a:rPr lang="ko-KR" altLang="en-US" sz="3200" b="1" dirty="0"/>
              <a:t>공간다원 </a:t>
            </a:r>
            <a:r>
              <a:rPr lang="en-US" altLang="ko-KR" sz="3200" b="1" dirty="0"/>
              <a:t>: </a:t>
            </a:r>
            <a:r>
              <a:rPr lang="ko-KR" altLang="en-US" sz="3200" b="1" dirty="0" err="1"/>
              <a:t>하늘꽃송이</a:t>
            </a:r>
            <a:r>
              <a:rPr lang="en-US" altLang="ko-KR" sz="3200" b="1" dirty="0"/>
              <a:t>)</a:t>
            </a:r>
            <a:endParaRPr lang="ko-KR" altLang="en-US" sz="3200" dirty="0"/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228A10A8-BE53-F48B-8785-1D44869A4169}"/>
              </a:ext>
            </a:extLst>
          </p:cNvPr>
          <p:cNvCxnSpPr>
            <a:cxnSpLocks/>
            <a:stCxn id="3" idx="5"/>
          </p:cNvCxnSpPr>
          <p:nvPr/>
        </p:nvCxnSpPr>
        <p:spPr>
          <a:xfrm>
            <a:off x="2331888" y="8664560"/>
            <a:ext cx="367064" cy="191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오각형 2">
            <a:extLst>
              <a:ext uri="{FF2B5EF4-FFF2-40B4-BE49-F238E27FC236}">
                <a16:creationId xmlns:a16="http://schemas.microsoft.com/office/drawing/2014/main" id="{8D89F06F-E08B-B56C-1BAA-C5782A2A27F0}"/>
              </a:ext>
            </a:extLst>
          </p:cNvPr>
          <p:cNvSpPr/>
          <p:nvPr/>
        </p:nvSpPr>
        <p:spPr>
          <a:xfrm>
            <a:off x="1722289" y="8431716"/>
            <a:ext cx="609600" cy="609595"/>
          </a:xfrm>
          <a:prstGeom prst="pentagon">
            <a:avLst/>
          </a:prstGeom>
          <a:solidFill>
            <a:srgbClr val="FFFF00"/>
          </a:solidFill>
          <a:ln w="444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B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27BEE73A-419D-77F1-CB1D-0D2B32B9A068}"/>
              </a:ext>
            </a:extLst>
          </p:cNvPr>
          <p:cNvCxnSpPr>
            <a:cxnSpLocks/>
            <a:stCxn id="89" idx="1"/>
            <a:endCxn id="81" idx="1"/>
          </p:cNvCxnSpPr>
          <p:nvPr/>
        </p:nvCxnSpPr>
        <p:spPr>
          <a:xfrm rot="10800000" flipV="1">
            <a:off x="15926988" y="5663390"/>
            <a:ext cx="4725" cy="5383618"/>
          </a:xfrm>
          <a:prstGeom prst="bentConnector3">
            <a:avLst>
              <a:gd name="adj1" fmla="val 4938095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C764E3E0-C220-9147-60BC-9F3A6925F73D}"/>
              </a:ext>
            </a:extLst>
          </p:cNvPr>
          <p:cNvCxnSpPr>
            <a:cxnSpLocks/>
            <a:stCxn id="81" idx="3"/>
            <a:endCxn id="127" idx="1"/>
          </p:cNvCxnSpPr>
          <p:nvPr/>
        </p:nvCxnSpPr>
        <p:spPr>
          <a:xfrm flipV="1">
            <a:off x="18289187" y="5663390"/>
            <a:ext cx="798912" cy="5383618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오각형 36">
            <a:extLst>
              <a:ext uri="{FF2B5EF4-FFF2-40B4-BE49-F238E27FC236}">
                <a16:creationId xmlns:a16="http://schemas.microsoft.com/office/drawing/2014/main" id="{066C7A82-4CC8-EC9A-A083-928A066AF392}"/>
              </a:ext>
            </a:extLst>
          </p:cNvPr>
          <p:cNvSpPr/>
          <p:nvPr/>
        </p:nvSpPr>
        <p:spPr>
          <a:xfrm>
            <a:off x="22631400" y="5436692"/>
            <a:ext cx="609600" cy="609595"/>
          </a:xfrm>
          <a:prstGeom prst="pentagon">
            <a:avLst/>
          </a:prstGeom>
          <a:solidFill>
            <a:srgbClr val="FFFF00"/>
          </a:solidFill>
          <a:ln w="444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C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4DB73D9-333C-B5F1-E72F-D2320A75F6D1}"/>
              </a:ext>
            </a:extLst>
          </p:cNvPr>
          <p:cNvSpPr txBox="1"/>
          <p:nvPr/>
        </p:nvSpPr>
        <p:spPr>
          <a:xfrm>
            <a:off x="3194707" y="1560316"/>
            <a:ext cx="10972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/>
              <a:t>[S100]</a:t>
            </a:r>
            <a:endParaRPr lang="ko-KR" altLang="en-US" sz="2400" b="1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698A4159-B83F-B93F-5320-AA0ED3875013}"/>
              </a:ext>
            </a:extLst>
          </p:cNvPr>
          <p:cNvSpPr/>
          <p:nvPr/>
        </p:nvSpPr>
        <p:spPr>
          <a:xfrm>
            <a:off x="8106369" y="11032571"/>
            <a:ext cx="2362200" cy="1752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유가족 </a:t>
            </a:r>
            <a:r>
              <a:rPr lang="ko-KR" altLang="en-US" sz="1600" dirty="0" err="1">
                <a:solidFill>
                  <a:schemeClr val="tx1"/>
                </a:solidFill>
              </a:rPr>
              <a:t>에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장례 비용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견적 제시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정보 수신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문자 송신</a:t>
            </a:r>
          </a:p>
        </p:txBody>
      </p: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2771C78F-C28D-B61E-F3CB-EAE591B5C927}"/>
              </a:ext>
            </a:extLst>
          </p:cNvPr>
          <p:cNvCxnSpPr>
            <a:cxnSpLocks/>
            <a:stCxn id="31" idx="3"/>
            <a:endCxn id="43" idx="0"/>
          </p:cNvCxnSpPr>
          <p:nvPr/>
        </p:nvCxnSpPr>
        <p:spPr>
          <a:xfrm>
            <a:off x="8401051" y="5663390"/>
            <a:ext cx="886418" cy="5369181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BE28374-A244-3841-3D8B-351822F6AFE8}"/>
              </a:ext>
            </a:extLst>
          </p:cNvPr>
          <p:cNvSpPr txBox="1"/>
          <p:nvPr/>
        </p:nvSpPr>
        <p:spPr>
          <a:xfrm>
            <a:off x="6109325" y="7383191"/>
            <a:ext cx="10972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/>
              <a:t>[S200]</a:t>
            </a:r>
            <a:endParaRPr lang="ko-KR" altLang="en-US" sz="24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FBD00BE-9D4B-5F59-7D9F-F9AC89EADB5C}"/>
              </a:ext>
            </a:extLst>
          </p:cNvPr>
          <p:cNvSpPr txBox="1"/>
          <p:nvPr/>
        </p:nvSpPr>
        <p:spPr>
          <a:xfrm>
            <a:off x="6038850" y="1582470"/>
            <a:ext cx="10972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/>
              <a:t>[S300]</a:t>
            </a:r>
            <a:endParaRPr lang="ko-KR" altLang="en-US" sz="24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D9C938B-1A9F-C14D-9456-B4383C9CA4CF}"/>
              </a:ext>
            </a:extLst>
          </p:cNvPr>
          <p:cNvSpPr txBox="1"/>
          <p:nvPr/>
        </p:nvSpPr>
        <p:spPr>
          <a:xfrm>
            <a:off x="8155278" y="10579115"/>
            <a:ext cx="10972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/>
              <a:t>[S300]</a:t>
            </a:r>
            <a:endParaRPr lang="ko-KR" altLang="en-US" sz="24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C9DB58D-BCE2-C982-EA22-0F95A73972C1}"/>
              </a:ext>
            </a:extLst>
          </p:cNvPr>
          <p:cNvSpPr txBox="1"/>
          <p:nvPr/>
        </p:nvSpPr>
        <p:spPr>
          <a:xfrm>
            <a:off x="9972879" y="4311429"/>
            <a:ext cx="10972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/>
              <a:t>[S400]</a:t>
            </a:r>
            <a:endParaRPr lang="ko-KR" altLang="en-US" sz="24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6C6C5F5-3060-1DE7-F271-01E938D575CD}"/>
              </a:ext>
            </a:extLst>
          </p:cNvPr>
          <p:cNvSpPr txBox="1"/>
          <p:nvPr/>
        </p:nvSpPr>
        <p:spPr>
          <a:xfrm>
            <a:off x="12763421" y="4333635"/>
            <a:ext cx="10972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/>
              <a:t>[S410]</a:t>
            </a:r>
            <a:endParaRPr lang="ko-KR" altLang="en-US" sz="2400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F053BAF-6087-A168-2F5A-929FA26D5F62}"/>
              </a:ext>
            </a:extLst>
          </p:cNvPr>
          <p:cNvSpPr txBox="1"/>
          <p:nvPr/>
        </p:nvSpPr>
        <p:spPr>
          <a:xfrm>
            <a:off x="15926987" y="1628083"/>
            <a:ext cx="1181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/>
              <a:t>[S500-1]</a:t>
            </a:r>
            <a:endParaRPr lang="ko-KR" altLang="en-US" sz="2400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FB7F192-180A-7D72-24C7-9A902A85F6F9}"/>
              </a:ext>
            </a:extLst>
          </p:cNvPr>
          <p:cNvSpPr txBox="1"/>
          <p:nvPr/>
        </p:nvSpPr>
        <p:spPr>
          <a:xfrm>
            <a:off x="15773400" y="9825335"/>
            <a:ext cx="1181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/>
              <a:t>[S500-2]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610230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ECC39-50C7-CF1B-D7D2-5DAD31DFE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99E59B8E-B1E2-B6A8-C0DB-8781B9D60C48}"/>
              </a:ext>
            </a:extLst>
          </p:cNvPr>
          <p:cNvSpPr/>
          <p:nvPr/>
        </p:nvSpPr>
        <p:spPr>
          <a:xfrm>
            <a:off x="381000" y="1447800"/>
            <a:ext cx="23622000" cy="1188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B609E1D-A554-43AD-6FFE-7109CFB9A670}"/>
              </a:ext>
            </a:extLst>
          </p:cNvPr>
          <p:cNvCxnSpPr>
            <a:stCxn id="9" idx="1"/>
          </p:cNvCxnSpPr>
          <p:nvPr/>
        </p:nvCxnSpPr>
        <p:spPr>
          <a:xfrm>
            <a:off x="381000" y="7391400"/>
            <a:ext cx="2362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FD5B4F6-F9CB-976F-6F3F-3A529173095C}"/>
              </a:ext>
            </a:extLst>
          </p:cNvPr>
          <p:cNvCxnSpPr/>
          <p:nvPr/>
        </p:nvCxnSpPr>
        <p:spPr>
          <a:xfrm>
            <a:off x="381000" y="4341844"/>
            <a:ext cx="2362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7033AAE-2AD0-AA65-126F-72A9193E20C5}"/>
              </a:ext>
            </a:extLst>
          </p:cNvPr>
          <p:cNvCxnSpPr/>
          <p:nvPr/>
        </p:nvCxnSpPr>
        <p:spPr>
          <a:xfrm>
            <a:off x="381000" y="10287000"/>
            <a:ext cx="2362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CF72D3F-C7CC-A5E6-C928-ED91295E4CAD}"/>
              </a:ext>
            </a:extLst>
          </p:cNvPr>
          <p:cNvCxnSpPr>
            <a:cxnSpLocks/>
          </p:cNvCxnSpPr>
          <p:nvPr/>
        </p:nvCxnSpPr>
        <p:spPr>
          <a:xfrm flipH="1">
            <a:off x="1295400" y="1447800"/>
            <a:ext cx="152400" cy="1188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86C6B3D-174E-B04A-E1EC-BF93F17F8E88}"/>
              </a:ext>
            </a:extLst>
          </p:cNvPr>
          <p:cNvSpPr/>
          <p:nvPr/>
        </p:nvSpPr>
        <p:spPr>
          <a:xfrm rot="16200000">
            <a:off x="-435533" y="2457189"/>
            <a:ext cx="2586368" cy="8381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유가족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C828D72-4B9D-F334-24A6-6468F2532E6E}"/>
              </a:ext>
            </a:extLst>
          </p:cNvPr>
          <p:cNvSpPr/>
          <p:nvPr/>
        </p:nvSpPr>
        <p:spPr>
          <a:xfrm rot="16200000">
            <a:off x="-454217" y="5370556"/>
            <a:ext cx="2586368" cy="8381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중계 플랫폼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4C8238E-2005-8E96-5FCE-E74ADE2994A1}"/>
              </a:ext>
            </a:extLst>
          </p:cNvPr>
          <p:cNvSpPr/>
          <p:nvPr/>
        </p:nvSpPr>
        <p:spPr>
          <a:xfrm rot="16200000">
            <a:off x="-472866" y="8440316"/>
            <a:ext cx="2586368" cy="79777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상조회사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5A580AD-5439-4FDD-5E6D-25F4E24B0568}"/>
              </a:ext>
            </a:extLst>
          </p:cNvPr>
          <p:cNvSpPr/>
          <p:nvPr/>
        </p:nvSpPr>
        <p:spPr>
          <a:xfrm rot="16200000">
            <a:off x="-464300" y="11344482"/>
            <a:ext cx="2586368" cy="7806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국세청</a:t>
            </a:r>
            <a:r>
              <a:rPr lang="en-US" altLang="ko-KR" dirty="0">
                <a:solidFill>
                  <a:schemeClr val="tx1"/>
                </a:solidFill>
              </a:rPr>
              <a:t>/SNS/PG</a:t>
            </a:r>
            <a:r>
              <a:rPr lang="ko-KR" altLang="en-US" dirty="0">
                <a:solidFill>
                  <a:schemeClr val="tx1"/>
                </a:solidFill>
              </a:rPr>
              <a:t>사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21C47451-C0B5-13A3-11AE-18ED2941D9A8}"/>
              </a:ext>
            </a:extLst>
          </p:cNvPr>
          <p:cNvSpPr txBox="1"/>
          <p:nvPr/>
        </p:nvSpPr>
        <p:spPr>
          <a:xfrm>
            <a:off x="264500" y="571500"/>
            <a:ext cx="84064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sz="3200" b="1" dirty="0"/>
              <a:t>단계별 운영 프로세스</a:t>
            </a:r>
            <a:r>
              <a:rPr lang="en-US" altLang="ko-KR" sz="3200" b="1" dirty="0"/>
              <a:t> (</a:t>
            </a:r>
            <a:r>
              <a:rPr lang="ko-KR" altLang="en-US" sz="3200" b="1" dirty="0"/>
              <a:t>공간다원 </a:t>
            </a:r>
            <a:r>
              <a:rPr lang="en-US" altLang="ko-KR" sz="3200" b="1" dirty="0"/>
              <a:t>: </a:t>
            </a:r>
            <a:r>
              <a:rPr lang="ko-KR" altLang="en-US" sz="3200" b="1" dirty="0" err="1"/>
              <a:t>하늘꽃송이</a:t>
            </a:r>
            <a:r>
              <a:rPr lang="en-US" altLang="ko-KR" sz="3200" b="1" dirty="0"/>
              <a:t>)</a:t>
            </a:r>
            <a:endParaRPr lang="ko-KR" altLang="en-US" sz="3200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69A0EE5F-FAAE-22F2-00D7-04E5656BCC39}"/>
              </a:ext>
            </a:extLst>
          </p:cNvPr>
          <p:cNvSpPr/>
          <p:nvPr/>
        </p:nvSpPr>
        <p:spPr>
          <a:xfrm>
            <a:off x="2626955" y="8058150"/>
            <a:ext cx="2362200" cy="1752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상조회사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정보 이용료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결제</a:t>
            </a:r>
          </a:p>
        </p:txBody>
      </p: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3ACB9B46-668F-44F1-17FD-EDDEAD7C6C1C}"/>
              </a:ext>
            </a:extLst>
          </p:cNvPr>
          <p:cNvCxnSpPr>
            <a:cxnSpLocks/>
            <a:stCxn id="43" idx="5"/>
            <a:endCxn id="24" idx="1"/>
          </p:cNvCxnSpPr>
          <p:nvPr/>
        </p:nvCxnSpPr>
        <p:spPr>
          <a:xfrm flipV="1">
            <a:off x="2316323" y="8934450"/>
            <a:ext cx="310632" cy="405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49339E1D-F607-8E7E-903C-2BD258563C96}"/>
              </a:ext>
            </a:extLst>
          </p:cNvPr>
          <p:cNvSpPr/>
          <p:nvPr/>
        </p:nvSpPr>
        <p:spPr>
          <a:xfrm>
            <a:off x="5281561" y="8058150"/>
            <a:ext cx="2362200" cy="1752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PG</a:t>
            </a:r>
            <a:r>
              <a:rPr lang="ko-KR" altLang="en-US" sz="1600" dirty="0">
                <a:solidFill>
                  <a:schemeClr val="tx1"/>
                </a:solidFill>
              </a:rPr>
              <a:t>회사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결제 화면 연동</a:t>
            </a:r>
          </a:p>
        </p:txBody>
      </p:sp>
      <p:sp>
        <p:nvSpPr>
          <p:cNvPr id="4" name="순서도: 판단 3">
            <a:extLst>
              <a:ext uri="{FF2B5EF4-FFF2-40B4-BE49-F238E27FC236}">
                <a16:creationId xmlns:a16="http://schemas.microsoft.com/office/drawing/2014/main" id="{241DB378-82AF-2447-3E4C-356DD8FF43B4}"/>
              </a:ext>
            </a:extLst>
          </p:cNvPr>
          <p:cNvSpPr/>
          <p:nvPr/>
        </p:nvSpPr>
        <p:spPr>
          <a:xfrm>
            <a:off x="8062003" y="8119293"/>
            <a:ext cx="3048000" cy="1630314"/>
          </a:xfrm>
          <a:prstGeom prst="flowChartDecisi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정보이용료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결제 정상</a:t>
            </a: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C26F47F6-8740-A182-1AB4-711B8749C909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7643761" y="8934450"/>
            <a:ext cx="41824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BD08600F-138F-AD6D-1881-92A614CC095C}"/>
              </a:ext>
            </a:extLst>
          </p:cNvPr>
          <p:cNvCxnSpPr>
            <a:cxnSpLocks/>
            <a:stCxn id="24" idx="3"/>
            <a:endCxn id="3" idx="1"/>
          </p:cNvCxnSpPr>
          <p:nvPr/>
        </p:nvCxnSpPr>
        <p:spPr>
          <a:xfrm>
            <a:off x="4989155" y="8934450"/>
            <a:ext cx="29240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6CB5866-41E4-F0B2-6D36-46305BE57A6C}"/>
              </a:ext>
            </a:extLst>
          </p:cNvPr>
          <p:cNvSpPr/>
          <p:nvPr/>
        </p:nvSpPr>
        <p:spPr>
          <a:xfrm>
            <a:off x="5281561" y="10877553"/>
            <a:ext cx="2362200" cy="1752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상조 회사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PG</a:t>
            </a:r>
            <a:r>
              <a:rPr lang="ko-KR" altLang="en-US" sz="1600" dirty="0">
                <a:solidFill>
                  <a:schemeClr val="tx1"/>
                </a:solidFill>
              </a:rPr>
              <a:t>회사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정보 이용료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결제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693CA274-D9A4-E659-613A-585E1F95112E}"/>
              </a:ext>
            </a:extLst>
          </p:cNvPr>
          <p:cNvCxnSpPr>
            <a:cxnSpLocks/>
            <a:stCxn id="3" idx="2"/>
            <a:endCxn id="10" idx="0"/>
          </p:cNvCxnSpPr>
          <p:nvPr/>
        </p:nvCxnSpPr>
        <p:spPr>
          <a:xfrm>
            <a:off x="6462661" y="9810750"/>
            <a:ext cx="0" cy="106680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92F3C19-725C-7101-2F6B-F4F32890E973}"/>
              </a:ext>
            </a:extLst>
          </p:cNvPr>
          <p:cNvSpPr txBox="1"/>
          <p:nvPr/>
        </p:nvSpPr>
        <p:spPr>
          <a:xfrm>
            <a:off x="9586003" y="7793593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NO</a:t>
            </a:r>
            <a:endParaRPr lang="ko-KR" altLang="en-US" dirty="0"/>
          </a:p>
        </p:txBody>
      </p: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13EBA03C-385D-EDB3-5434-4BFE44CA4D91}"/>
              </a:ext>
            </a:extLst>
          </p:cNvPr>
          <p:cNvCxnSpPr>
            <a:cxnSpLocks/>
            <a:stCxn id="4" idx="0"/>
            <a:endCxn id="3" idx="0"/>
          </p:cNvCxnSpPr>
          <p:nvPr/>
        </p:nvCxnSpPr>
        <p:spPr>
          <a:xfrm rot="16200000" flipV="1">
            <a:off x="7993761" y="6527051"/>
            <a:ext cx="61143" cy="3123342"/>
          </a:xfrm>
          <a:prstGeom prst="bentConnector3">
            <a:avLst>
              <a:gd name="adj1" fmla="val 656999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F735E06-A08B-4FF8-59A6-CB0B4FCC9E3F}"/>
              </a:ext>
            </a:extLst>
          </p:cNvPr>
          <p:cNvSpPr txBox="1"/>
          <p:nvPr/>
        </p:nvSpPr>
        <p:spPr>
          <a:xfrm>
            <a:off x="11015604" y="8555227"/>
            <a:ext cx="512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YES</a:t>
            </a:r>
            <a:endParaRPr lang="ko-KR" altLang="en-US" dirty="0"/>
          </a:p>
        </p:txBody>
      </p:sp>
      <p:sp>
        <p:nvSpPr>
          <p:cNvPr id="43" name="오각형 42">
            <a:extLst>
              <a:ext uri="{FF2B5EF4-FFF2-40B4-BE49-F238E27FC236}">
                <a16:creationId xmlns:a16="http://schemas.microsoft.com/office/drawing/2014/main" id="{9EB06ADD-3CC4-0606-9948-79AC1B2D5626}"/>
              </a:ext>
            </a:extLst>
          </p:cNvPr>
          <p:cNvSpPr/>
          <p:nvPr/>
        </p:nvSpPr>
        <p:spPr>
          <a:xfrm>
            <a:off x="1706724" y="8705664"/>
            <a:ext cx="609600" cy="609595"/>
          </a:xfrm>
          <a:prstGeom prst="pentagon">
            <a:avLst/>
          </a:prstGeom>
          <a:solidFill>
            <a:srgbClr val="FFFF00"/>
          </a:solidFill>
          <a:ln w="444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C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116" name="사각형: 둥근 모서리 115">
            <a:extLst>
              <a:ext uri="{FF2B5EF4-FFF2-40B4-BE49-F238E27FC236}">
                <a16:creationId xmlns:a16="http://schemas.microsoft.com/office/drawing/2014/main" id="{A0DDBE81-754D-7028-EED7-13558DAEBBBA}"/>
              </a:ext>
            </a:extLst>
          </p:cNvPr>
          <p:cNvSpPr/>
          <p:nvPr/>
        </p:nvSpPr>
        <p:spPr>
          <a:xfrm>
            <a:off x="15104139" y="8055265"/>
            <a:ext cx="2362200" cy="1752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상조 회사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계약</a:t>
            </a:r>
            <a:r>
              <a:rPr lang="en-US" altLang="ko-KR" sz="1600" dirty="0">
                <a:solidFill>
                  <a:schemeClr val="tx1"/>
                </a:solidFill>
              </a:rPr>
              <a:t>(</a:t>
            </a:r>
            <a:r>
              <a:rPr lang="ko-KR" altLang="en-US" sz="1600" dirty="0">
                <a:solidFill>
                  <a:schemeClr val="tx1"/>
                </a:solidFill>
              </a:rPr>
              <a:t>장례식</a:t>
            </a:r>
            <a:r>
              <a:rPr lang="en-US" altLang="ko-KR" sz="16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완료</a:t>
            </a:r>
          </a:p>
        </p:txBody>
      </p:sp>
      <p:sp>
        <p:nvSpPr>
          <p:cNvPr id="117" name="사각형: 둥근 모서리 116">
            <a:extLst>
              <a:ext uri="{FF2B5EF4-FFF2-40B4-BE49-F238E27FC236}">
                <a16:creationId xmlns:a16="http://schemas.microsoft.com/office/drawing/2014/main" id="{D0CE2B48-45BD-C20B-0859-537BAFA94857}"/>
              </a:ext>
            </a:extLst>
          </p:cNvPr>
          <p:cNvSpPr/>
          <p:nvPr/>
        </p:nvSpPr>
        <p:spPr>
          <a:xfrm>
            <a:off x="15104139" y="1825915"/>
            <a:ext cx="2362200" cy="1752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유가족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계약</a:t>
            </a:r>
            <a:r>
              <a:rPr lang="en-US" altLang="ko-KR" sz="1600" dirty="0">
                <a:solidFill>
                  <a:schemeClr val="tx1"/>
                </a:solidFill>
              </a:rPr>
              <a:t>(</a:t>
            </a:r>
            <a:r>
              <a:rPr lang="ko-KR" altLang="en-US" sz="1600" dirty="0">
                <a:solidFill>
                  <a:schemeClr val="tx1"/>
                </a:solidFill>
              </a:rPr>
              <a:t>장례식</a:t>
            </a:r>
            <a:r>
              <a:rPr lang="en-US" altLang="ko-KR" sz="16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완료</a:t>
            </a:r>
          </a:p>
        </p:txBody>
      </p:sp>
      <p:sp>
        <p:nvSpPr>
          <p:cNvPr id="127" name="순서도: 판단 126">
            <a:extLst>
              <a:ext uri="{FF2B5EF4-FFF2-40B4-BE49-F238E27FC236}">
                <a16:creationId xmlns:a16="http://schemas.microsoft.com/office/drawing/2014/main" id="{400BB8EF-8E1E-AF46-525E-66D826AB7252}"/>
              </a:ext>
            </a:extLst>
          </p:cNvPr>
          <p:cNvSpPr/>
          <p:nvPr/>
        </p:nvSpPr>
        <p:spPr>
          <a:xfrm>
            <a:off x="18075939" y="5084811"/>
            <a:ext cx="3048000" cy="1630314"/>
          </a:xfrm>
          <a:prstGeom prst="flowChartDecisi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유가족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상조회사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양측 완료 처리</a:t>
            </a:r>
          </a:p>
        </p:txBody>
      </p:sp>
      <p:cxnSp>
        <p:nvCxnSpPr>
          <p:cNvPr id="128" name="연결선: 꺾임 127">
            <a:extLst>
              <a:ext uri="{FF2B5EF4-FFF2-40B4-BE49-F238E27FC236}">
                <a16:creationId xmlns:a16="http://schemas.microsoft.com/office/drawing/2014/main" id="{04054667-F05E-D189-CB64-A7728A73DC03}"/>
              </a:ext>
            </a:extLst>
          </p:cNvPr>
          <p:cNvCxnSpPr>
            <a:cxnSpLocks/>
            <a:stCxn id="117" idx="2"/>
            <a:endCxn id="127" idx="1"/>
          </p:cNvCxnSpPr>
          <p:nvPr/>
        </p:nvCxnSpPr>
        <p:spPr>
          <a:xfrm rot="16200000" flipH="1">
            <a:off x="16019863" y="3843891"/>
            <a:ext cx="2321453" cy="1790700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연결선: 꺾임 130">
            <a:extLst>
              <a:ext uri="{FF2B5EF4-FFF2-40B4-BE49-F238E27FC236}">
                <a16:creationId xmlns:a16="http://schemas.microsoft.com/office/drawing/2014/main" id="{80F6687A-3635-EDEE-3116-ED562A22E942}"/>
              </a:ext>
            </a:extLst>
          </p:cNvPr>
          <p:cNvCxnSpPr>
            <a:cxnSpLocks/>
            <a:stCxn id="116" idx="0"/>
            <a:endCxn id="127" idx="1"/>
          </p:cNvCxnSpPr>
          <p:nvPr/>
        </p:nvCxnSpPr>
        <p:spPr>
          <a:xfrm rot="5400000" flipH="1" flipV="1">
            <a:off x="16102941" y="6082267"/>
            <a:ext cx="2155297" cy="1790700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화살표 연결선 134">
            <a:extLst>
              <a:ext uri="{FF2B5EF4-FFF2-40B4-BE49-F238E27FC236}">
                <a16:creationId xmlns:a16="http://schemas.microsoft.com/office/drawing/2014/main" id="{7F727A5A-2ED9-1804-4039-3886A2E1BF8B}"/>
              </a:ext>
            </a:extLst>
          </p:cNvPr>
          <p:cNvCxnSpPr>
            <a:cxnSpLocks/>
            <a:stCxn id="127" idx="3"/>
            <a:endCxn id="138" idx="1"/>
          </p:cNvCxnSpPr>
          <p:nvPr/>
        </p:nvCxnSpPr>
        <p:spPr>
          <a:xfrm flipV="1">
            <a:off x="21123939" y="5889940"/>
            <a:ext cx="551285" cy="100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오각형 137">
            <a:extLst>
              <a:ext uri="{FF2B5EF4-FFF2-40B4-BE49-F238E27FC236}">
                <a16:creationId xmlns:a16="http://schemas.microsoft.com/office/drawing/2014/main" id="{2186E93A-7A58-4CCF-F8D4-1DFCFEE23697}"/>
              </a:ext>
            </a:extLst>
          </p:cNvPr>
          <p:cNvSpPr/>
          <p:nvPr/>
        </p:nvSpPr>
        <p:spPr>
          <a:xfrm>
            <a:off x="21675223" y="5657096"/>
            <a:ext cx="609600" cy="609595"/>
          </a:xfrm>
          <a:prstGeom prst="pentagon">
            <a:avLst/>
          </a:prstGeom>
          <a:solidFill>
            <a:srgbClr val="FFFF00"/>
          </a:solidFill>
          <a:ln w="444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D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139" name="오각형 138">
            <a:extLst>
              <a:ext uri="{FF2B5EF4-FFF2-40B4-BE49-F238E27FC236}">
                <a16:creationId xmlns:a16="http://schemas.microsoft.com/office/drawing/2014/main" id="{A9AAFE54-C99E-49E1-22AD-3D379C842931}"/>
              </a:ext>
            </a:extLst>
          </p:cNvPr>
          <p:cNvSpPr/>
          <p:nvPr/>
        </p:nvSpPr>
        <p:spPr>
          <a:xfrm>
            <a:off x="22631400" y="5654352"/>
            <a:ext cx="609600" cy="609595"/>
          </a:xfrm>
          <a:prstGeom prst="pentagon">
            <a:avLst/>
          </a:prstGeom>
          <a:solidFill>
            <a:srgbClr val="FFC000"/>
          </a:solidFill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E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cxnSp>
        <p:nvCxnSpPr>
          <p:cNvPr id="144" name="연결선: 꺾임 143">
            <a:extLst>
              <a:ext uri="{FF2B5EF4-FFF2-40B4-BE49-F238E27FC236}">
                <a16:creationId xmlns:a16="http://schemas.microsoft.com/office/drawing/2014/main" id="{07E3D183-8D76-D595-D836-7E6EE4D00C80}"/>
              </a:ext>
            </a:extLst>
          </p:cNvPr>
          <p:cNvCxnSpPr>
            <a:cxnSpLocks/>
            <a:stCxn id="127" idx="0"/>
            <a:endCxn id="139" idx="0"/>
          </p:cNvCxnSpPr>
          <p:nvPr/>
        </p:nvCxnSpPr>
        <p:spPr>
          <a:xfrm rot="16200000" flipH="1">
            <a:off x="20983298" y="3701451"/>
            <a:ext cx="569541" cy="3336261"/>
          </a:xfrm>
          <a:prstGeom prst="bentConnector3">
            <a:avLst>
              <a:gd name="adj1" fmla="val -99116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933446D5-AC3C-3105-6B5D-9E56C3B984C4}"/>
              </a:ext>
            </a:extLst>
          </p:cNvPr>
          <p:cNvSpPr txBox="1"/>
          <p:nvPr/>
        </p:nvSpPr>
        <p:spPr>
          <a:xfrm>
            <a:off x="19572219" y="4715479"/>
            <a:ext cx="512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YES</a:t>
            </a:r>
            <a:endParaRPr lang="ko-KR" altLang="en-US" dirty="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24EA31A7-811D-2FF7-02CE-B54A0A1E81D1}"/>
              </a:ext>
            </a:extLst>
          </p:cNvPr>
          <p:cNvSpPr txBox="1"/>
          <p:nvPr/>
        </p:nvSpPr>
        <p:spPr>
          <a:xfrm>
            <a:off x="21042575" y="5486116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NO</a:t>
            </a:r>
            <a:endParaRPr lang="ko-KR" altLang="en-US" dirty="0"/>
          </a:p>
        </p:txBody>
      </p:sp>
      <p:sp>
        <p:nvSpPr>
          <p:cNvPr id="153" name="사각형: 둥근 모서리 152">
            <a:extLst>
              <a:ext uri="{FF2B5EF4-FFF2-40B4-BE49-F238E27FC236}">
                <a16:creationId xmlns:a16="http://schemas.microsoft.com/office/drawing/2014/main" id="{C1DC64F9-ABD5-682C-3039-F13A2823DF22}"/>
              </a:ext>
            </a:extLst>
          </p:cNvPr>
          <p:cNvSpPr/>
          <p:nvPr/>
        </p:nvSpPr>
        <p:spPr>
          <a:xfrm>
            <a:off x="11856094" y="10858500"/>
            <a:ext cx="2362200" cy="1752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유가족 </a:t>
            </a:r>
            <a:r>
              <a:rPr lang="en-US" altLang="ko-KR" sz="1600" dirty="0">
                <a:solidFill>
                  <a:schemeClr val="tx1"/>
                </a:solidFill>
              </a:rPr>
              <a:t>/</a:t>
            </a: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상조 회사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전화번호</a:t>
            </a:r>
            <a:r>
              <a:rPr lang="en-US" altLang="ko-KR" sz="1600" dirty="0">
                <a:solidFill>
                  <a:schemeClr val="tx1"/>
                </a:solidFill>
              </a:rPr>
              <a:t>,</a:t>
            </a: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이메일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문자 전송</a:t>
            </a:r>
          </a:p>
        </p:txBody>
      </p:sp>
      <p:sp>
        <p:nvSpPr>
          <p:cNvPr id="154" name="구름 153">
            <a:extLst>
              <a:ext uri="{FF2B5EF4-FFF2-40B4-BE49-F238E27FC236}">
                <a16:creationId xmlns:a16="http://schemas.microsoft.com/office/drawing/2014/main" id="{4C3549E1-08CC-2610-53CE-7860B7DD3035}"/>
              </a:ext>
            </a:extLst>
          </p:cNvPr>
          <p:cNvSpPr/>
          <p:nvPr/>
        </p:nvSpPr>
        <p:spPr>
          <a:xfrm>
            <a:off x="11760499" y="7906858"/>
            <a:ext cx="2583491" cy="2081199"/>
          </a:xfrm>
          <a:prstGeom prst="clou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채팅창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양측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전화번호</a:t>
            </a:r>
            <a:r>
              <a:rPr lang="en-US" altLang="ko-KR" dirty="0">
                <a:solidFill>
                  <a:schemeClr val="tx1"/>
                </a:solidFill>
              </a:rPr>
              <a:t>,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이메일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문자 전송</a:t>
            </a:r>
          </a:p>
        </p:txBody>
      </p:sp>
      <p:cxnSp>
        <p:nvCxnSpPr>
          <p:cNvPr id="155" name="연결선: 꺾임 154">
            <a:extLst>
              <a:ext uri="{FF2B5EF4-FFF2-40B4-BE49-F238E27FC236}">
                <a16:creationId xmlns:a16="http://schemas.microsoft.com/office/drawing/2014/main" id="{505D1B72-E5CF-BF54-3917-A9BC6677E30F}"/>
              </a:ext>
            </a:extLst>
          </p:cNvPr>
          <p:cNvCxnSpPr>
            <a:cxnSpLocks/>
            <a:stCxn id="4" idx="3"/>
            <a:endCxn id="153" idx="1"/>
          </p:cNvCxnSpPr>
          <p:nvPr/>
        </p:nvCxnSpPr>
        <p:spPr>
          <a:xfrm>
            <a:off x="11110003" y="8934450"/>
            <a:ext cx="746091" cy="280035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화살표 연결선 157">
            <a:extLst>
              <a:ext uri="{FF2B5EF4-FFF2-40B4-BE49-F238E27FC236}">
                <a16:creationId xmlns:a16="http://schemas.microsoft.com/office/drawing/2014/main" id="{F6D2C898-D623-B859-71B0-56B8BDF2016B}"/>
              </a:ext>
            </a:extLst>
          </p:cNvPr>
          <p:cNvCxnSpPr>
            <a:cxnSpLocks/>
            <a:stCxn id="4" idx="3"/>
            <a:endCxn id="154" idx="2"/>
          </p:cNvCxnSpPr>
          <p:nvPr/>
        </p:nvCxnSpPr>
        <p:spPr>
          <a:xfrm>
            <a:off x="11110003" y="8934450"/>
            <a:ext cx="658510" cy="1300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연결선: 꺾임 161">
            <a:extLst>
              <a:ext uri="{FF2B5EF4-FFF2-40B4-BE49-F238E27FC236}">
                <a16:creationId xmlns:a16="http://schemas.microsoft.com/office/drawing/2014/main" id="{29A4FDF2-FD70-9EBA-2AA0-8FAB110DB57E}"/>
              </a:ext>
            </a:extLst>
          </p:cNvPr>
          <p:cNvCxnSpPr>
            <a:cxnSpLocks/>
            <a:stCxn id="154" idx="0"/>
            <a:endCxn id="117" idx="1"/>
          </p:cNvCxnSpPr>
          <p:nvPr/>
        </p:nvCxnSpPr>
        <p:spPr>
          <a:xfrm flipV="1">
            <a:off x="14341837" y="2702215"/>
            <a:ext cx="762302" cy="6245243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화살표 연결선 164">
            <a:extLst>
              <a:ext uri="{FF2B5EF4-FFF2-40B4-BE49-F238E27FC236}">
                <a16:creationId xmlns:a16="http://schemas.microsoft.com/office/drawing/2014/main" id="{9C5991C0-41C0-72B2-D245-595F944A9DF7}"/>
              </a:ext>
            </a:extLst>
          </p:cNvPr>
          <p:cNvCxnSpPr>
            <a:cxnSpLocks/>
            <a:stCxn id="154" idx="0"/>
            <a:endCxn id="116" idx="1"/>
          </p:cNvCxnSpPr>
          <p:nvPr/>
        </p:nvCxnSpPr>
        <p:spPr>
          <a:xfrm flipV="1">
            <a:off x="14341837" y="8931565"/>
            <a:ext cx="762302" cy="1589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8AB9C7BC-97E3-2664-5072-656038189F9E}"/>
              </a:ext>
            </a:extLst>
          </p:cNvPr>
          <p:cNvSpPr txBox="1"/>
          <p:nvPr/>
        </p:nvSpPr>
        <p:spPr>
          <a:xfrm>
            <a:off x="8861064" y="6987857"/>
            <a:ext cx="1181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/>
              <a:t>[S500-3]</a:t>
            </a:r>
            <a:endParaRPr lang="ko-KR" altLang="en-US" sz="2400" b="1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BD00096D-63AA-8252-F8CF-EC8970C350EA}"/>
              </a:ext>
            </a:extLst>
          </p:cNvPr>
          <p:cNvSpPr txBox="1"/>
          <p:nvPr/>
        </p:nvSpPr>
        <p:spPr>
          <a:xfrm>
            <a:off x="12316391" y="6916890"/>
            <a:ext cx="1181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/>
              <a:t>[S500-4]</a:t>
            </a:r>
            <a:endParaRPr lang="ko-KR" altLang="en-US" sz="2400" b="1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B767D124-3847-0D2C-15F8-035FC1365C1F}"/>
              </a:ext>
            </a:extLst>
          </p:cNvPr>
          <p:cNvSpPr txBox="1"/>
          <p:nvPr/>
        </p:nvSpPr>
        <p:spPr>
          <a:xfrm>
            <a:off x="12011635" y="10406339"/>
            <a:ext cx="1181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/>
              <a:t>[S500-4]</a:t>
            </a:r>
            <a:endParaRPr lang="ko-KR" altLang="en-US" sz="2400" b="1" dirty="0"/>
          </a:p>
        </p:txBody>
      </p:sp>
      <p:sp>
        <p:nvSpPr>
          <p:cNvPr id="2" name="별: 꼭짓점 16개 1">
            <a:extLst>
              <a:ext uri="{FF2B5EF4-FFF2-40B4-BE49-F238E27FC236}">
                <a16:creationId xmlns:a16="http://schemas.microsoft.com/office/drawing/2014/main" id="{B61AD091-A17D-F916-BBB1-C489542066BD}"/>
              </a:ext>
            </a:extLst>
          </p:cNvPr>
          <p:cNvSpPr/>
          <p:nvPr/>
        </p:nvSpPr>
        <p:spPr>
          <a:xfrm rot="10800000" flipV="1">
            <a:off x="13679823" y="10344151"/>
            <a:ext cx="3962402" cy="3034992"/>
          </a:xfrm>
          <a:prstGeom prst="star16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b="1" dirty="0">
                <a:solidFill>
                  <a:schemeClr val="tx1"/>
                </a:solidFill>
                <a:latin typeface="Arial" panose="020B0604020202020204" pitchFamily="34" charset="0"/>
              </a:rPr>
              <a:t>기산점(</a:t>
            </a:r>
            <a:r>
              <a:rPr lang="ko-KR" altLang="ko-KR" b="1" dirty="0">
                <a:solidFill>
                  <a:schemeClr val="tx1"/>
                </a:solidFill>
                <a:latin typeface="Arial" panose="020B0604020202020204" pitchFamily="34" charset="0"/>
                <a:ea typeface="Google Sans Text"/>
              </a:rPr>
              <a:t>$</a:t>
            </a:r>
            <a:r>
              <a:rPr lang="ko-KR" altLang="ko-KR" b="1" dirty="0" err="1">
                <a:solidFill>
                  <a:schemeClr val="tx1"/>
                </a:solidFill>
                <a:latin typeface="Arial" panose="020B0604020202020204" pitchFamily="34" charset="0"/>
                <a:ea typeface="Google Sans Text"/>
              </a:rPr>
              <a:t>T</a:t>
            </a:r>
            <a:r>
              <a:rPr lang="ko-KR" altLang="ko-KR" b="1" dirty="0">
                <a:solidFill>
                  <a:schemeClr val="tx1"/>
                </a:solidFill>
                <a:latin typeface="Arial" panose="020B0604020202020204" pitchFamily="34" charset="0"/>
                <a:ea typeface="Google Sans Text"/>
              </a:rPr>
              <a:t>_{</a:t>
            </a:r>
            <a:r>
              <a:rPr lang="ko-KR" altLang="ko-KR" b="1" dirty="0" err="1">
                <a:solidFill>
                  <a:schemeClr val="tx1"/>
                </a:solidFill>
                <a:latin typeface="Arial" panose="020B0604020202020204" pitchFamily="34" charset="0"/>
                <a:ea typeface="Google Sans Text"/>
              </a:rPr>
              <a:t>pay</a:t>
            </a:r>
            <a:r>
              <a:rPr lang="ko-KR" altLang="ko-KR" b="1" dirty="0">
                <a:solidFill>
                  <a:schemeClr val="tx1"/>
                </a:solidFill>
                <a:latin typeface="Arial" panose="020B0604020202020204" pitchFamily="34" charset="0"/>
                <a:ea typeface="Google Sans Text"/>
              </a:rPr>
              <a:t>}$</a:t>
            </a:r>
            <a:r>
              <a:rPr lang="ko-KR" altLang="ko-KR" b="1" dirty="0">
                <a:solidFill>
                  <a:schemeClr val="tx1"/>
                </a:solidFill>
                <a:latin typeface="Arial" panose="020B0604020202020204" pitchFamily="34" charset="0"/>
              </a:rPr>
              <a:t>) 확정: </a:t>
            </a:r>
            <a:r>
              <a:rPr lang="ko-KR" altLang="ko-KR" b="1" dirty="0" err="1">
                <a:solidFill>
                  <a:schemeClr val="tx1"/>
                </a:solidFill>
                <a:latin typeface="Arial" panose="020B0604020202020204" pitchFamily="34" charset="0"/>
              </a:rPr>
              <a:t>전상법</a:t>
            </a:r>
            <a:r>
              <a:rPr lang="ko-KR" altLang="ko-KR" b="1" dirty="0">
                <a:solidFill>
                  <a:schemeClr val="tx1"/>
                </a:solidFill>
                <a:latin typeface="Arial" panose="020B0604020202020204" pitchFamily="34" charset="0"/>
              </a:rPr>
              <a:t> 제17조 2항에 따른 정보 제공 완료 시점</a:t>
            </a:r>
          </a:p>
        </p:txBody>
      </p:sp>
    </p:spTree>
    <p:extLst>
      <p:ext uri="{BB962C8B-B14F-4D97-AF65-F5344CB8AC3E}">
        <p14:creationId xmlns:p14="http://schemas.microsoft.com/office/powerpoint/2010/main" val="4273335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BD215-3B28-60CF-1554-FA2B558B9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D23FC380-F144-895C-61FE-946264BEC737}"/>
              </a:ext>
            </a:extLst>
          </p:cNvPr>
          <p:cNvSpPr/>
          <p:nvPr/>
        </p:nvSpPr>
        <p:spPr>
          <a:xfrm>
            <a:off x="381000" y="1447800"/>
            <a:ext cx="23622000" cy="1188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456A34B-3820-E537-271F-0B397F77B6B6}"/>
              </a:ext>
            </a:extLst>
          </p:cNvPr>
          <p:cNvCxnSpPr>
            <a:cxnSpLocks/>
          </p:cNvCxnSpPr>
          <p:nvPr/>
        </p:nvCxnSpPr>
        <p:spPr>
          <a:xfrm>
            <a:off x="381000" y="7292154"/>
            <a:ext cx="2362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EDCEEE9-9014-D01C-A5F1-22EEABF988E2}"/>
              </a:ext>
            </a:extLst>
          </p:cNvPr>
          <p:cNvCxnSpPr/>
          <p:nvPr/>
        </p:nvCxnSpPr>
        <p:spPr>
          <a:xfrm>
            <a:off x="381000" y="4341844"/>
            <a:ext cx="2362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FDDF616-CA95-6FA1-3392-827AB432ABCC}"/>
              </a:ext>
            </a:extLst>
          </p:cNvPr>
          <p:cNvCxnSpPr/>
          <p:nvPr/>
        </p:nvCxnSpPr>
        <p:spPr>
          <a:xfrm>
            <a:off x="381000" y="10287000"/>
            <a:ext cx="2362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BBD4A603-831E-001D-5DE3-14FE156A67D5}"/>
              </a:ext>
            </a:extLst>
          </p:cNvPr>
          <p:cNvCxnSpPr>
            <a:cxnSpLocks/>
          </p:cNvCxnSpPr>
          <p:nvPr/>
        </p:nvCxnSpPr>
        <p:spPr>
          <a:xfrm flipH="1">
            <a:off x="1295400" y="1447800"/>
            <a:ext cx="152400" cy="1188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F3C0C90-CA7A-A2C4-5F9C-7BB14637C3C1}"/>
              </a:ext>
            </a:extLst>
          </p:cNvPr>
          <p:cNvSpPr/>
          <p:nvPr/>
        </p:nvSpPr>
        <p:spPr>
          <a:xfrm rot="16200000">
            <a:off x="-435533" y="2457189"/>
            <a:ext cx="2586368" cy="8381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유가족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979CB97-64A4-9321-7C32-DFC5E74047A1}"/>
              </a:ext>
            </a:extLst>
          </p:cNvPr>
          <p:cNvSpPr/>
          <p:nvPr/>
        </p:nvSpPr>
        <p:spPr>
          <a:xfrm rot="16200000">
            <a:off x="-454217" y="5370556"/>
            <a:ext cx="2586368" cy="8381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중계 플랫폼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D4C0F3E-94C3-0329-3366-2E98BC555E65}"/>
              </a:ext>
            </a:extLst>
          </p:cNvPr>
          <p:cNvSpPr/>
          <p:nvPr/>
        </p:nvSpPr>
        <p:spPr>
          <a:xfrm rot="16200000">
            <a:off x="-472866" y="8440316"/>
            <a:ext cx="2586368" cy="79777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상조회사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22A68C2-0266-4351-457B-E5F1A03AE75B}"/>
              </a:ext>
            </a:extLst>
          </p:cNvPr>
          <p:cNvSpPr/>
          <p:nvPr/>
        </p:nvSpPr>
        <p:spPr>
          <a:xfrm rot="16200000">
            <a:off x="-464300" y="11344482"/>
            <a:ext cx="2586368" cy="7806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국세청</a:t>
            </a:r>
            <a:r>
              <a:rPr lang="en-US" altLang="ko-KR" dirty="0">
                <a:solidFill>
                  <a:schemeClr val="tx1"/>
                </a:solidFill>
              </a:rPr>
              <a:t>/SNS/PG</a:t>
            </a:r>
            <a:r>
              <a:rPr lang="ko-KR" altLang="en-US" dirty="0">
                <a:solidFill>
                  <a:schemeClr val="tx1"/>
                </a:solidFill>
              </a:rPr>
              <a:t>사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1F9454DE-3D39-F065-5D63-6B85D2C10E76}"/>
              </a:ext>
            </a:extLst>
          </p:cNvPr>
          <p:cNvSpPr txBox="1"/>
          <p:nvPr/>
        </p:nvSpPr>
        <p:spPr>
          <a:xfrm>
            <a:off x="264500" y="571500"/>
            <a:ext cx="84064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sz="3200" b="1" dirty="0"/>
              <a:t>단계별 운영 프로세스</a:t>
            </a:r>
            <a:r>
              <a:rPr lang="en-US" altLang="ko-KR" sz="3200" b="1" dirty="0"/>
              <a:t> (</a:t>
            </a:r>
            <a:r>
              <a:rPr lang="ko-KR" altLang="en-US" sz="3200" b="1" dirty="0"/>
              <a:t>공간다원 </a:t>
            </a:r>
            <a:r>
              <a:rPr lang="en-US" altLang="ko-KR" sz="3200" b="1" dirty="0"/>
              <a:t>: </a:t>
            </a:r>
            <a:r>
              <a:rPr lang="ko-KR" altLang="en-US" sz="3200" b="1" dirty="0" err="1"/>
              <a:t>하늘꽃송이</a:t>
            </a:r>
            <a:r>
              <a:rPr lang="en-US" altLang="ko-KR" sz="3200" b="1" dirty="0"/>
              <a:t>)</a:t>
            </a:r>
            <a:endParaRPr lang="ko-KR" altLang="en-US" sz="3200" dirty="0"/>
          </a:p>
        </p:txBody>
      </p: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D65B7DF8-14A9-1BA6-B801-F0EC9872E618}"/>
              </a:ext>
            </a:extLst>
          </p:cNvPr>
          <p:cNvCxnSpPr>
            <a:cxnSpLocks/>
            <a:stCxn id="43" idx="5"/>
            <a:endCxn id="51" idx="1"/>
          </p:cNvCxnSpPr>
          <p:nvPr/>
        </p:nvCxnSpPr>
        <p:spPr>
          <a:xfrm>
            <a:off x="2073533" y="6241730"/>
            <a:ext cx="364867" cy="28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12C3391B-5C1C-412D-AC1D-66EF171CEAF6}"/>
              </a:ext>
            </a:extLst>
          </p:cNvPr>
          <p:cNvSpPr txBox="1"/>
          <p:nvPr/>
        </p:nvSpPr>
        <p:spPr>
          <a:xfrm>
            <a:off x="8084151" y="6295434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NO</a:t>
            </a:r>
            <a:endParaRPr lang="ko-KR" altLang="en-US" dirty="0"/>
          </a:p>
        </p:txBody>
      </p:sp>
      <p:sp>
        <p:nvSpPr>
          <p:cNvPr id="7" name="순서도: 판단 6">
            <a:extLst>
              <a:ext uri="{FF2B5EF4-FFF2-40B4-BE49-F238E27FC236}">
                <a16:creationId xmlns:a16="http://schemas.microsoft.com/office/drawing/2014/main" id="{8A74AD2A-AF19-DE89-5BAB-EB2B7B5D4539}"/>
              </a:ext>
            </a:extLst>
          </p:cNvPr>
          <p:cNvSpPr/>
          <p:nvPr/>
        </p:nvSpPr>
        <p:spPr>
          <a:xfrm>
            <a:off x="5108534" y="5424296"/>
            <a:ext cx="3048000" cy="1630314"/>
          </a:xfrm>
          <a:prstGeom prst="flowChartDecisi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600" dirty="0">
                <a:solidFill>
                  <a:schemeClr val="tx1"/>
                </a:solidFill>
                <a:latin typeface="Arial" panose="020B0604020202020204" pitchFamily="34" charset="0"/>
              </a:rPr>
              <a:t>결제시점</a:t>
            </a:r>
            <a:endParaRPr lang="en-US" altLang="ko-KR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600" dirty="0">
                <a:solidFill>
                  <a:schemeClr val="tx1"/>
                </a:solidFill>
                <a:latin typeface="Arial" panose="020B0604020202020204" pitchFamily="34" charset="0"/>
              </a:rPr>
              <a:t>(</a:t>
            </a:r>
            <a:r>
              <a:rPr lang="ko-KR" altLang="ko-KR" sz="1600" dirty="0">
                <a:solidFill>
                  <a:schemeClr val="tx1"/>
                </a:solidFill>
                <a:latin typeface="Arial" panose="020B0604020202020204" pitchFamily="34" charset="0"/>
                <a:ea typeface="Google Sans Text"/>
              </a:rPr>
              <a:t>$</a:t>
            </a:r>
            <a:r>
              <a:rPr lang="ko-KR" altLang="ko-KR" sz="1600" dirty="0" err="1">
                <a:solidFill>
                  <a:schemeClr val="tx1"/>
                </a:solidFill>
                <a:latin typeface="Arial" panose="020B0604020202020204" pitchFamily="34" charset="0"/>
                <a:ea typeface="Google Sans Text"/>
              </a:rPr>
              <a:t>T</a:t>
            </a:r>
            <a:r>
              <a:rPr lang="ko-KR" altLang="ko-KR" sz="1600" dirty="0">
                <a:solidFill>
                  <a:schemeClr val="tx1"/>
                </a:solidFill>
                <a:latin typeface="Arial" panose="020B0604020202020204" pitchFamily="34" charset="0"/>
                <a:ea typeface="Google Sans Text"/>
              </a:rPr>
              <a:t>_{</a:t>
            </a:r>
            <a:r>
              <a:rPr lang="ko-KR" altLang="ko-KR" sz="1600" dirty="0" err="1">
                <a:solidFill>
                  <a:schemeClr val="tx1"/>
                </a:solidFill>
                <a:latin typeface="Arial" panose="020B0604020202020204" pitchFamily="34" charset="0"/>
                <a:ea typeface="Google Sans Text"/>
              </a:rPr>
              <a:t>pay</a:t>
            </a:r>
            <a:r>
              <a:rPr lang="ko-KR" altLang="ko-KR" sz="1600" dirty="0">
                <a:solidFill>
                  <a:schemeClr val="tx1"/>
                </a:solidFill>
                <a:latin typeface="Arial" panose="020B0604020202020204" pitchFamily="34" charset="0"/>
                <a:ea typeface="Google Sans Text"/>
              </a:rPr>
              <a:t>}$</a:t>
            </a:r>
            <a:r>
              <a:rPr lang="ko-KR" altLang="ko-KR" sz="1600" dirty="0">
                <a:solidFill>
                  <a:schemeClr val="tx1"/>
                </a:solidFill>
                <a:latin typeface="Arial" panose="020B0604020202020204" pitchFamily="34" charset="0"/>
              </a:rPr>
              <a:t>) 기준 4</a:t>
            </a:r>
            <a:r>
              <a:rPr lang="ko-KR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일 차</a:t>
            </a:r>
            <a:endParaRPr lang="en-US" altLang="ko-KR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알림</a:t>
            </a:r>
            <a:endParaRPr lang="ko-KR" altLang="ko-KR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9741EEE4-78AE-45FC-7D2D-711226243892}"/>
              </a:ext>
            </a:extLst>
          </p:cNvPr>
          <p:cNvCxnSpPr>
            <a:cxnSpLocks/>
            <a:stCxn id="7" idx="3"/>
            <a:endCxn id="60" idx="1"/>
          </p:cNvCxnSpPr>
          <p:nvPr/>
        </p:nvCxnSpPr>
        <p:spPr>
          <a:xfrm flipV="1">
            <a:off x="8156534" y="6220403"/>
            <a:ext cx="339003" cy="190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94E67685-E3F6-CE03-1496-CF39088BDE9D}"/>
              </a:ext>
            </a:extLst>
          </p:cNvPr>
          <p:cNvSpPr/>
          <p:nvPr/>
        </p:nvSpPr>
        <p:spPr>
          <a:xfrm>
            <a:off x="2438400" y="5368313"/>
            <a:ext cx="2362200" cy="1752600"/>
          </a:xfrm>
          <a:prstGeom prst="round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작업일 기준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결제 시점 기준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계약</a:t>
            </a:r>
            <a:r>
              <a:rPr lang="en-US" altLang="ko-KR" sz="1600" dirty="0">
                <a:solidFill>
                  <a:schemeClr val="tx1"/>
                </a:solidFill>
              </a:rPr>
              <a:t>(</a:t>
            </a:r>
            <a:r>
              <a:rPr lang="ko-KR" altLang="en-US" sz="1600" dirty="0">
                <a:solidFill>
                  <a:schemeClr val="tx1"/>
                </a:solidFill>
              </a:rPr>
              <a:t>장례식</a:t>
            </a:r>
            <a:r>
              <a:rPr lang="en-US" altLang="ko-KR" sz="16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미 </a:t>
            </a:r>
            <a:r>
              <a:rPr lang="ko-KR" altLang="en-US" sz="1600" dirty="0" err="1">
                <a:solidFill>
                  <a:schemeClr val="tx1"/>
                </a:solidFill>
              </a:rPr>
              <a:t>완료건</a:t>
            </a:r>
            <a:r>
              <a:rPr lang="ko-KR" altLang="en-US" sz="1600" dirty="0">
                <a:solidFill>
                  <a:schemeClr val="tx1"/>
                </a:solidFill>
              </a:rPr>
              <a:t> 추출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(BATCH)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AF645E98-DF43-150D-4B24-5E6F54365A04}"/>
              </a:ext>
            </a:extLst>
          </p:cNvPr>
          <p:cNvCxnSpPr>
            <a:cxnSpLocks/>
            <a:stCxn id="51" idx="3"/>
            <a:endCxn id="7" idx="1"/>
          </p:cNvCxnSpPr>
          <p:nvPr/>
        </p:nvCxnSpPr>
        <p:spPr>
          <a:xfrm flipV="1">
            <a:off x="4800600" y="6239453"/>
            <a:ext cx="307934" cy="51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CA4A128-D66C-EAF1-C6C8-645B3944606C}"/>
              </a:ext>
            </a:extLst>
          </p:cNvPr>
          <p:cNvSpPr txBox="1"/>
          <p:nvPr/>
        </p:nvSpPr>
        <p:spPr>
          <a:xfrm>
            <a:off x="6634790" y="7012238"/>
            <a:ext cx="512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YES</a:t>
            </a:r>
            <a:endParaRPr lang="ko-KR" altLang="en-US" dirty="0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3D0FCF93-204D-4A52-0B71-00A588D5437D}"/>
              </a:ext>
            </a:extLst>
          </p:cNvPr>
          <p:cNvGrpSpPr/>
          <p:nvPr/>
        </p:nvGrpSpPr>
        <p:grpSpPr>
          <a:xfrm>
            <a:off x="5446701" y="10877553"/>
            <a:ext cx="2372068" cy="1799752"/>
            <a:chOff x="19696911" y="10934700"/>
            <a:chExt cx="2372068" cy="1799752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8B17A044-6A9F-D475-6D8A-394018F5421C}"/>
                </a:ext>
              </a:extLst>
            </p:cNvPr>
            <p:cNvSpPr/>
            <p:nvPr/>
          </p:nvSpPr>
          <p:spPr>
            <a:xfrm>
              <a:off x="19696911" y="10934700"/>
              <a:ext cx="2362200" cy="17526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3679626-D48E-DFA1-F5BE-A4ACD542DDC0}"/>
                </a:ext>
              </a:extLst>
            </p:cNvPr>
            <p:cNvSpPr txBox="1"/>
            <p:nvPr/>
          </p:nvSpPr>
          <p:spPr>
            <a:xfrm>
              <a:off x="19701022" y="10980126"/>
              <a:ext cx="2367957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/>
                <a:t>유가족</a:t>
              </a:r>
              <a:endParaRPr lang="en-US" altLang="ko-KR" dirty="0"/>
            </a:p>
            <a:p>
              <a:pPr algn="ctr"/>
              <a:r>
                <a:rPr lang="ko-KR" altLang="en-US" dirty="0"/>
                <a:t>리뷰작성포인트 불가 </a:t>
              </a:r>
              <a:endParaRPr lang="en-US" altLang="ko-KR" dirty="0"/>
            </a:p>
            <a:p>
              <a:pPr algn="ctr"/>
              <a:r>
                <a:rPr lang="ko-KR" altLang="en-US" dirty="0"/>
                <a:t>예고 통보 </a:t>
              </a:r>
              <a:endParaRPr lang="en-US" altLang="ko-KR" dirty="0"/>
            </a:p>
            <a:p>
              <a:pPr algn="ctr"/>
              <a:r>
                <a:rPr lang="ko-KR" altLang="en-US" dirty="0"/>
                <a:t>및</a:t>
              </a:r>
              <a:endParaRPr lang="en-US" altLang="ko-KR" dirty="0"/>
            </a:p>
            <a:p>
              <a:pPr algn="ctr"/>
              <a:r>
                <a:rPr lang="ko-KR" altLang="en-US" dirty="0"/>
                <a:t>상조 회사 평점</a:t>
              </a:r>
              <a:r>
                <a:rPr lang="en-US" altLang="ko-KR" dirty="0"/>
                <a:t>/</a:t>
              </a:r>
              <a:r>
                <a:rPr lang="ko-KR" altLang="en-US" dirty="0"/>
                <a:t>댓글</a:t>
              </a:r>
              <a:endParaRPr lang="en-US" altLang="ko-KR" dirty="0"/>
            </a:p>
            <a:p>
              <a:pPr algn="ctr"/>
              <a:r>
                <a:rPr lang="ko-KR" altLang="en-US" dirty="0"/>
                <a:t>작성 요청 문자 전송</a:t>
              </a:r>
              <a:endParaRPr lang="en-US" altLang="ko-KR" dirty="0"/>
            </a:p>
          </p:txBody>
        </p:sp>
      </p:grpSp>
      <p:sp>
        <p:nvSpPr>
          <p:cNvPr id="43" name="오각형 42">
            <a:extLst>
              <a:ext uri="{FF2B5EF4-FFF2-40B4-BE49-F238E27FC236}">
                <a16:creationId xmlns:a16="http://schemas.microsoft.com/office/drawing/2014/main" id="{971CA640-CA55-63D7-0078-8FC6478A8C8C}"/>
              </a:ext>
            </a:extLst>
          </p:cNvPr>
          <p:cNvSpPr/>
          <p:nvPr/>
        </p:nvSpPr>
        <p:spPr>
          <a:xfrm>
            <a:off x="1463934" y="6008886"/>
            <a:ext cx="609600" cy="609595"/>
          </a:xfrm>
          <a:prstGeom prst="pentagon">
            <a:avLst/>
          </a:prstGeom>
          <a:solidFill>
            <a:srgbClr val="FFFF00"/>
          </a:solidFill>
          <a:ln w="444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D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B3853142-9056-4713-D01B-04654269DC78}"/>
              </a:ext>
            </a:extLst>
          </p:cNvPr>
          <p:cNvCxnSpPr>
            <a:cxnSpLocks/>
            <a:stCxn id="7" idx="2"/>
            <a:endCxn id="29" idx="0"/>
          </p:cNvCxnSpPr>
          <p:nvPr/>
        </p:nvCxnSpPr>
        <p:spPr>
          <a:xfrm>
            <a:off x="6632534" y="7054610"/>
            <a:ext cx="2257" cy="38683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순서도: 판단 59">
            <a:extLst>
              <a:ext uri="{FF2B5EF4-FFF2-40B4-BE49-F238E27FC236}">
                <a16:creationId xmlns:a16="http://schemas.microsoft.com/office/drawing/2014/main" id="{CA2BC1F5-ECA8-45E9-02D4-98C076C26CC7}"/>
              </a:ext>
            </a:extLst>
          </p:cNvPr>
          <p:cNvSpPr/>
          <p:nvPr/>
        </p:nvSpPr>
        <p:spPr>
          <a:xfrm>
            <a:off x="8495537" y="5405246"/>
            <a:ext cx="3048000" cy="1630314"/>
          </a:xfrm>
          <a:prstGeom prst="flowChartDecisi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600" dirty="0">
                <a:solidFill>
                  <a:schemeClr val="tx1"/>
                </a:solidFill>
                <a:latin typeface="Arial" panose="020B0604020202020204" pitchFamily="34" charset="0"/>
              </a:rPr>
              <a:t>결제시점</a:t>
            </a:r>
            <a:endParaRPr lang="en-US" altLang="ko-KR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600" dirty="0">
                <a:solidFill>
                  <a:schemeClr val="tx1"/>
                </a:solidFill>
                <a:latin typeface="Arial" panose="020B0604020202020204" pitchFamily="34" charset="0"/>
              </a:rPr>
              <a:t>(</a:t>
            </a:r>
            <a:r>
              <a:rPr lang="ko-KR" altLang="ko-KR" sz="1600" dirty="0">
                <a:solidFill>
                  <a:schemeClr val="tx1"/>
                </a:solidFill>
                <a:latin typeface="Arial" panose="020B0604020202020204" pitchFamily="34" charset="0"/>
                <a:ea typeface="Google Sans Text"/>
              </a:rPr>
              <a:t>$</a:t>
            </a:r>
            <a:r>
              <a:rPr lang="ko-KR" altLang="ko-KR" sz="1600" dirty="0" err="1">
                <a:solidFill>
                  <a:schemeClr val="tx1"/>
                </a:solidFill>
                <a:latin typeface="Arial" panose="020B0604020202020204" pitchFamily="34" charset="0"/>
                <a:ea typeface="Google Sans Text"/>
              </a:rPr>
              <a:t>T</a:t>
            </a:r>
            <a:r>
              <a:rPr lang="ko-KR" altLang="ko-KR" sz="1600" dirty="0">
                <a:solidFill>
                  <a:schemeClr val="tx1"/>
                </a:solidFill>
                <a:latin typeface="Arial" panose="020B0604020202020204" pitchFamily="34" charset="0"/>
                <a:ea typeface="Google Sans Text"/>
              </a:rPr>
              <a:t>_{</a:t>
            </a:r>
            <a:r>
              <a:rPr lang="ko-KR" altLang="ko-KR" sz="1600" dirty="0" err="1">
                <a:solidFill>
                  <a:schemeClr val="tx1"/>
                </a:solidFill>
                <a:latin typeface="Arial" panose="020B0604020202020204" pitchFamily="34" charset="0"/>
                <a:ea typeface="Google Sans Text"/>
              </a:rPr>
              <a:t>pay</a:t>
            </a:r>
            <a:r>
              <a:rPr lang="ko-KR" altLang="ko-KR" sz="1600" dirty="0">
                <a:solidFill>
                  <a:schemeClr val="tx1"/>
                </a:solidFill>
                <a:latin typeface="Arial" panose="020B0604020202020204" pitchFamily="34" charset="0"/>
                <a:ea typeface="Google Sans Text"/>
              </a:rPr>
              <a:t>}$</a:t>
            </a:r>
            <a:r>
              <a:rPr lang="ko-KR" altLang="ko-KR" sz="1600" dirty="0">
                <a:solidFill>
                  <a:schemeClr val="tx1"/>
                </a:solidFill>
                <a:latin typeface="Arial" panose="020B0604020202020204" pitchFamily="34" charset="0"/>
              </a:rPr>
              <a:t>) 기준 6일 차 알림</a:t>
            </a: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800E5BBD-877E-D12A-9D0C-4419F5FDB6E3}"/>
              </a:ext>
            </a:extLst>
          </p:cNvPr>
          <p:cNvGrpSpPr/>
          <p:nvPr/>
        </p:nvGrpSpPr>
        <p:grpSpPr>
          <a:xfrm>
            <a:off x="10554486" y="10877555"/>
            <a:ext cx="2372068" cy="1800974"/>
            <a:chOff x="19696911" y="10934700"/>
            <a:chExt cx="2372068" cy="1753792"/>
          </a:xfrm>
        </p:grpSpPr>
        <p:sp>
          <p:nvSpPr>
            <p:cNvPr id="70" name="사각형: 둥근 모서리 69">
              <a:extLst>
                <a:ext uri="{FF2B5EF4-FFF2-40B4-BE49-F238E27FC236}">
                  <a16:creationId xmlns:a16="http://schemas.microsoft.com/office/drawing/2014/main" id="{37EDF4C2-508F-FF87-15CE-6EC7BBF2CFD5}"/>
                </a:ext>
              </a:extLst>
            </p:cNvPr>
            <p:cNvSpPr/>
            <p:nvPr/>
          </p:nvSpPr>
          <p:spPr>
            <a:xfrm>
              <a:off x="19696911" y="10934700"/>
              <a:ext cx="2362200" cy="17526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6D664BD-A40C-678B-0D56-28BF27B0B53D}"/>
                </a:ext>
              </a:extLst>
            </p:cNvPr>
            <p:cNvSpPr txBox="1"/>
            <p:nvPr/>
          </p:nvSpPr>
          <p:spPr>
            <a:xfrm>
              <a:off x="19701022" y="10980126"/>
              <a:ext cx="2367957" cy="17083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/>
                <a:t>유가족</a:t>
              </a:r>
              <a:endParaRPr lang="en-US" altLang="ko-KR" dirty="0"/>
            </a:p>
            <a:p>
              <a:pPr algn="ctr"/>
              <a:r>
                <a:rPr lang="ko-KR" altLang="en-US" dirty="0"/>
                <a:t>리뷰작성포인트 불가 </a:t>
              </a:r>
              <a:endParaRPr lang="en-US" altLang="ko-KR" dirty="0"/>
            </a:p>
            <a:p>
              <a:pPr algn="ctr"/>
              <a:r>
                <a:rPr lang="ko-KR" altLang="en-US" dirty="0"/>
                <a:t>예고 통보 </a:t>
              </a:r>
              <a:endParaRPr lang="en-US" altLang="ko-KR" dirty="0"/>
            </a:p>
            <a:p>
              <a:pPr algn="ctr"/>
              <a:r>
                <a:rPr lang="ko-KR" altLang="en-US" dirty="0"/>
                <a:t>및</a:t>
              </a:r>
              <a:endParaRPr lang="en-US" altLang="ko-KR" dirty="0"/>
            </a:p>
            <a:p>
              <a:pPr algn="ctr"/>
              <a:r>
                <a:rPr lang="ko-KR" altLang="en-US" dirty="0"/>
                <a:t>상조 회사 평점</a:t>
              </a:r>
              <a:r>
                <a:rPr lang="en-US" altLang="ko-KR" dirty="0"/>
                <a:t>/</a:t>
              </a:r>
              <a:r>
                <a:rPr lang="ko-KR" altLang="en-US" dirty="0"/>
                <a:t>댓글</a:t>
              </a:r>
              <a:endParaRPr lang="en-US" altLang="ko-KR" dirty="0"/>
            </a:p>
            <a:p>
              <a:pPr algn="ctr"/>
              <a:r>
                <a:rPr lang="ko-KR" altLang="en-US" dirty="0"/>
                <a:t>작성 요청 문자 전송</a:t>
              </a:r>
              <a:endParaRPr lang="en-US" altLang="ko-KR" dirty="0"/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6D098020-FC54-9C84-2AB1-96C0FCFF5CED}"/>
              </a:ext>
            </a:extLst>
          </p:cNvPr>
          <p:cNvSpPr txBox="1"/>
          <p:nvPr/>
        </p:nvSpPr>
        <p:spPr>
          <a:xfrm>
            <a:off x="11872887" y="6281115"/>
            <a:ext cx="512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YES</a:t>
            </a:r>
            <a:endParaRPr lang="ko-KR" altLang="en-US" dirty="0"/>
          </a:p>
        </p:txBody>
      </p:sp>
      <p:cxnSp>
        <p:nvCxnSpPr>
          <p:cNvPr id="103" name="연결선: 꺾임 102">
            <a:extLst>
              <a:ext uri="{FF2B5EF4-FFF2-40B4-BE49-F238E27FC236}">
                <a16:creationId xmlns:a16="http://schemas.microsoft.com/office/drawing/2014/main" id="{24EE47D3-809E-00D9-9EA4-F8B550648A35}"/>
              </a:ext>
            </a:extLst>
          </p:cNvPr>
          <p:cNvCxnSpPr>
            <a:cxnSpLocks/>
            <a:stCxn id="60" idx="0"/>
            <a:endCxn id="51" idx="0"/>
          </p:cNvCxnSpPr>
          <p:nvPr/>
        </p:nvCxnSpPr>
        <p:spPr>
          <a:xfrm rot="16200000" flipV="1">
            <a:off x="6801053" y="2186761"/>
            <a:ext cx="36933" cy="6400037"/>
          </a:xfrm>
          <a:prstGeom prst="bentConnector3">
            <a:avLst>
              <a:gd name="adj1" fmla="val 1881085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A94E1263-21C6-00EB-DFAE-7DF6F3DB40EA}"/>
              </a:ext>
            </a:extLst>
          </p:cNvPr>
          <p:cNvSpPr txBox="1"/>
          <p:nvPr/>
        </p:nvSpPr>
        <p:spPr>
          <a:xfrm>
            <a:off x="9990010" y="5084797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NO</a:t>
            </a:r>
            <a:endParaRPr lang="ko-KR" altLang="en-US" dirty="0"/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C00F7BAB-464D-E845-6CF9-DF4C49E2972E}"/>
              </a:ext>
            </a:extLst>
          </p:cNvPr>
          <p:cNvCxnSpPr>
            <a:cxnSpLocks/>
            <a:stCxn id="60" idx="3"/>
            <a:endCxn id="71" idx="0"/>
          </p:cNvCxnSpPr>
          <p:nvPr/>
        </p:nvCxnSpPr>
        <p:spPr>
          <a:xfrm>
            <a:off x="11543537" y="6220403"/>
            <a:ext cx="199039" cy="4703800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3AFC20CD-FEBF-D00C-6FED-9AB1E664EB71}"/>
              </a:ext>
            </a:extLst>
          </p:cNvPr>
          <p:cNvGrpSpPr/>
          <p:nvPr/>
        </p:nvGrpSpPr>
        <p:grpSpPr>
          <a:xfrm>
            <a:off x="12593067" y="5344490"/>
            <a:ext cx="2362200" cy="1869623"/>
            <a:chOff x="19696911" y="10934700"/>
            <a:chExt cx="2362200" cy="1869623"/>
          </a:xfrm>
        </p:grpSpPr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DE611750-B3D3-738D-489C-810B34310E45}"/>
                </a:ext>
              </a:extLst>
            </p:cNvPr>
            <p:cNvSpPr/>
            <p:nvPr/>
          </p:nvSpPr>
          <p:spPr>
            <a:xfrm>
              <a:off x="19696911" y="10934700"/>
              <a:ext cx="2362200" cy="17526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31E19F5-59C9-FA71-C9CF-1EFA7C917BF5}"/>
                </a:ext>
              </a:extLst>
            </p:cNvPr>
            <p:cNvSpPr txBox="1"/>
            <p:nvPr/>
          </p:nvSpPr>
          <p:spPr>
            <a:xfrm>
              <a:off x="19834335" y="11049997"/>
              <a:ext cx="2129109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/>
                <a:t>자동 </a:t>
              </a:r>
              <a:r>
                <a:rPr lang="en-US" altLang="ko-KR" dirty="0"/>
                <a:t>(BATCH) </a:t>
              </a:r>
              <a:r>
                <a:rPr lang="ko-KR" altLang="en-US" dirty="0"/>
                <a:t>처리</a:t>
              </a:r>
              <a:endParaRPr lang="en-US" altLang="ko-KR" dirty="0"/>
            </a:p>
            <a:p>
              <a:pPr algn="ctr"/>
              <a:endParaRPr lang="en-US" altLang="ko-KR" dirty="0"/>
            </a:p>
            <a:p>
              <a:pPr algn="ctr"/>
              <a:r>
                <a:rPr lang="ko-KR" altLang="en-US" dirty="0"/>
                <a:t>결제 시점 </a:t>
              </a:r>
              <a:r>
                <a:rPr lang="en-US" altLang="ko-KR" dirty="0"/>
                <a:t>6</a:t>
              </a:r>
              <a:r>
                <a:rPr lang="ko-KR" altLang="en-US" dirty="0"/>
                <a:t>일 경과 </a:t>
              </a:r>
              <a:endParaRPr lang="en-US" altLang="ko-KR" dirty="0"/>
            </a:p>
            <a:p>
              <a:pPr algn="ctr"/>
              <a:r>
                <a:rPr lang="ko-KR" altLang="en-US" dirty="0"/>
                <a:t>즉</a:t>
              </a:r>
              <a:r>
                <a:rPr lang="en-US" altLang="ko-KR" dirty="0"/>
                <a:t>, 7</a:t>
              </a:r>
              <a:r>
                <a:rPr lang="ko-KR" altLang="en-US" dirty="0"/>
                <a:t>일 차 </a:t>
              </a:r>
              <a:r>
                <a:rPr lang="en-US" altLang="ko-KR" dirty="0"/>
                <a:t>00</a:t>
              </a:r>
              <a:r>
                <a:rPr lang="ko-KR" altLang="en-US" dirty="0"/>
                <a:t>시</a:t>
              </a:r>
              <a:endParaRPr lang="en-US" altLang="ko-KR" dirty="0"/>
            </a:p>
            <a:p>
              <a:pPr algn="ctr"/>
              <a:r>
                <a:rPr lang="ko-KR" altLang="en-US" dirty="0"/>
                <a:t>계약 </a:t>
              </a:r>
              <a:r>
                <a:rPr lang="en-US" altLang="ko-KR" dirty="0"/>
                <a:t>(</a:t>
              </a:r>
              <a:r>
                <a:rPr lang="ko-KR" altLang="en-US" dirty="0"/>
                <a:t>장례식</a:t>
              </a:r>
              <a:r>
                <a:rPr lang="en-US" altLang="ko-KR" dirty="0"/>
                <a:t>) </a:t>
              </a:r>
              <a:r>
                <a:rPr lang="ko-KR" altLang="en-US" dirty="0"/>
                <a:t>완료</a:t>
              </a:r>
              <a:endParaRPr lang="en-US" altLang="ko-KR" dirty="0"/>
            </a:p>
            <a:p>
              <a:pPr algn="ctr"/>
              <a:r>
                <a:rPr lang="ko-KR" altLang="en-US" dirty="0"/>
                <a:t>처리</a:t>
              </a:r>
              <a:endParaRPr lang="en-US" altLang="ko-KR" dirty="0"/>
            </a:p>
          </p:txBody>
        </p:sp>
      </p:grp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9842A659-E396-6929-E7EB-6B1CED53BE63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11487554" y="6220403"/>
            <a:ext cx="1105513" cy="3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AF62F9A4-99E6-4168-B5D9-E4F94AEF4421}"/>
              </a:ext>
            </a:extLst>
          </p:cNvPr>
          <p:cNvGrpSpPr/>
          <p:nvPr/>
        </p:nvGrpSpPr>
        <p:grpSpPr>
          <a:xfrm>
            <a:off x="13179179" y="10861344"/>
            <a:ext cx="2362200" cy="1799750"/>
            <a:chOff x="19696911" y="10934700"/>
            <a:chExt cx="2362200" cy="1752600"/>
          </a:xfrm>
        </p:grpSpPr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99159A2F-D7D9-D7F9-3777-C633C6B9C011}"/>
                </a:ext>
              </a:extLst>
            </p:cNvPr>
            <p:cNvSpPr/>
            <p:nvPr/>
          </p:nvSpPr>
          <p:spPr>
            <a:xfrm>
              <a:off x="19696911" y="10934700"/>
              <a:ext cx="2362200" cy="17526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53E22DE-D901-E771-37DC-30D82BF2D479}"/>
                </a:ext>
              </a:extLst>
            </p:cNvPr>
            <p:cNvSpPr txBox="1"/>
            <p:nvPr/>
          </p:nvSpPr>
          <p:spPr>
            <a:xfrm>
              <a:off x="19907232" y="11335703"/>
              <a:ext cx="1941557" cy="8991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/>
                <a:t>계약</a:t>
              </a:r>
              <a:r>
                <a:rPr lang="en-US" altLang="ko-KR" dirty="0"/>
                <a:t>(</a:t>
              </a:r>
              <a:r>
                <a:rPr lang="ko-KR" altLang="en-US" dirty="0"/>
                <a:t>장례식</a:t>
              </a:r>
              <a:r>
                <a:rPr lang="en-US" altLang="ko-KR" dirty="0"/>
                <a:t>)</a:t>
              </a:r>
              <a:r>
                <a:rPr lang="ko-KR" altLang="en-US" dirty="0"/>
                <a:t>완료</a:t>
              </a:r>
              <a:endParaRPr lang="en-US" altLang="ko-KR" dirty="0"/>
            </a:p>
            <a:p>
              <a:pPr algn="ctr"/>
              <a:r>
                <a:rPr lang="ko-KR" altLang="en-US" dirty="0"/>
                <a:t>자동 처리 </a:t>
              </a:r>
              <a:endParaRPr lang="en-US" altLang="ko-KR" dirty="0"/>
            </a:p>
            <a:p>
              <a:pPr algn="ctr"/>
              <a:r>
                <a:rPr lang="ko-KR" altLang="en-US" dirty="0"/>
                <a:t>통보 문자 전송</a:t>
              </a:r>
              <a:endParaRPr lang="en-US" altLang="ko-KR" dirty="0"/>
            </a:p>
          </p:txBody>
        </p:sp>
      </p:grp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1E3AB410-AA19-1042-A785-5A32A650AC01}"/>
              </a:ext>
            </a:extLst>
          </p:cNvPr>
          <p:cNvCxnSpPr>
            <a:cxnSpLocks/>
            <a:stCxn id="70" idx="0"/>
            <a:endCxn id="37" idx="0"/>
          </p:cNvCxnSpPr>
          <p:nvPr/>
        </p:nvCxnSpPr>
        <p:spPr>
          <a:xfrm rot="5400000" flipH="1" flipV="1">
            <a:off x="13039827" y="9557104"/>
            <a:ext cx="16211" cy="2624693"/>
          </a:xfrm>
          <a:prstGeom prst="bentConnector3">
            <a:avLst>
              <a:gd name="adj1" fmla="val 484847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8341B1BF-AD50-FE51-46FF-BA9D6598B6AB}"/>
              </a:ext>
            </a:extLst>
          </p:cNvPr>
          <p:cNvSpPr/>
          <p:nvPr/>
        </p:nvSpPr>
        <p:spPr>
          <a:xfrm>
            <a:off x="14305395" y="2036672"/>
            <a:ext cx="2362200" cy="1752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상조 회사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평점 및 댓글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작성</a:t>
            </a:r>
          </a:p>
        </p:txBody>
      </p:sp>
      <p:sp>
        <p:nvSpPr>
          <p:cNvPr id="54" name="오각형 53">
            <a:extLst>
              <a:ext uri="{FF2B5EF4-FFF2-40B4-BE49-F238E27FC236}">
                <a16:creationId xmlns:a16="http://schemas.microsoft.com/office/drawing/2014/main" id="{78DE08AC-36A4-FDE3-7EF3-E4C6EC318542}"/>
              </a:ext>
            </a:extLst>
          </p:cNvPr>
          <p:cNvSpPr/>
          <p:nvPr/>
        </p:nvSpPr>
        <p:spPr>
          <a:xfrm>
            <a:off x="12816150" y="2680628"/>
            <a:ext cx="609600" cy="609595"/>
          </a:xfrm>
          <a:prstGeom prst="pentagon">
            <a:avLst/>
          </a:prstGeom>
          <a:solidFill>
            <a:srgbClr val="FFC000"/>
          </a:solidFill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E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0C6A829D-BFFF-3970-DAF0-09420FAD9196}"/>
              </a:ext>
            </a:extLst>
          </p:cNvPr>
          <p:cNvCxnSpPr>
            <a:cxnSpLocks/>
            <a:stCxn id="54" idx="5"/>
            <a:endCxn id="53" idx="1"/>
          </p:cNvCxnSpPr>
          <p:nvPr/>
        </p:nvCxnSpPr>
        <p:spPr>
          <a:xfrm flipV="1">
            <a:off x="13425749" y="2912972"/>
            <a:ext cx="879646" cy="5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연결선: 꺾임 58">
            <a:extLst>
              <a:ext uri="{FF2B5EF4-FFF2-40B4-BE49-F238E27FC236}">
                <a16:creationId xmlns:a16="http://schemas.microsoft.com/office/drawing/2014/main" id="{46332395-C0DF-A168-253C-F44F2065D38A}"/>
              </a:ext>
            </a:extLst>
          </p:cNvPr>
          <p:cNvCxnSpPr>
            <a:cxnSpLocks/>
            <a:stCxn id="25" idx="3"/>
            <a:endCxn id="53" idx="2"/>
          </p:cNvCxnSpPr>
          <p:nvPr/>
        </p:nvCxnSpPr>
        <p:spPr>
          <a:xfrm flipV="1">
            <a:off x="14955267" y="3789272"/>
            <a:ext cx="531228" cy="243151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D269787B-4950-2E90-692E-AB498EF8B6B3}"/>
              </a:ext>
            </a:extLst>
          </p:cNvPr>
          <p:cNvSpPr/>
          <p:nvPr/>
        </p:nvSpPr>
        <p:spPr>
          <a:xfrm>
            <a:off x="16060317" y="10884919"/>
            <a:ext cx="2362200" cy="1752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견적 요청 </a:t>
            </a:r>
            <a:r>
              <a:rPr lang="ko-KR" altLang="en-US" sz="1600" dirty="0">
                <a:solidFill>
                  <a:schemeClr val="tx1"/>
                </a:solidFill>
              </a:rPr>
              <a:t>견적요청시점부터 </a:t>
            </a:r>
            <a:r>
              <a:rPr lang="en-US" altLang="ko-KR" sz="1600" dirty="0">
                <a:solidFill>
                  <a:schemeClr val="tx1"/>
                </a:solidFill>
              </a:rPr>
              <a:t>15</a:t>
            </a:r>
            <a:r>
              <a:rPr lang="ko-KR" altLang="en-US" sz="1600" dirty="0">
                <a:solidFill>
                  <a:schemeClr val="tx1"/>
                </a:solidFill>
              </a:rPr>
              <a:t>일 이내 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리뷰 완료 되어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리뷰 작성 포인트 </a:t>
            </a:r>
            <a:r>
              <a:rPr lang="en-US" altLang="ko-KR" sz="1600" dirty="0">
                <a:solidFill>
                  <a:schemeClr val="tx1"/>
                </a:solidFill>
              </a:rPr>
              <a:t>50% </a:t>
            </a:r>
            <a:r>
              <a:rPr lang="ko-KR" altLang="en-US" sz="1600" dirty="0">
                <a:solidFill>
                  <a:schemeClr val="tx1"/>
                </a:solidFill>
              </a:rPr>
              <a:t>지급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1840E84-6912-4459-35A6-6903062E8D48}"/>
              </a:ext>
            </a:extLst>
          </p:cNvPr>
          <p:cNvSpPr txBox="1"/>
          <p:nvPr/>
        </p:nvSpPr>
        <p:spPr>
          <a:xfrm>
            <a:off x="17241417" y="6650447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NO</a:t>
            </a:r>
            <a:endParaRPr lang="ko-KR" altLang="en-US" dirty="0"/>
          </a:p>
        </p:txBody>
      </p:sp>
      <p:sp>
        <p:nvSpPr>
          <p:cNvPr id="67" name="순서도: 판단 66">
            <a:extLst>
              <a:ext uri="{FF2B5EF4-FFF2-40B4-BE49-F238E27FC236}">
                <a16:creationId xmlns:a16="http://schemas.microsoft.com/office/drawing/2014/main" id="{636AEA5C-08B5-BB2D-061B-72A87018CD1C}"/>
              </a:ext>
            </a:extLst>
          </p:cNvPr>
          <p:cNvSpPr/>
          <p:nvPr/>
        </p:nvSpPr>
        <p:spPr>
          <a:xfrm>
            <a:off x="15717417" y="5096731"/>
            <a:ext cx="3048000" cy="1630314"/>
          </a:xfrm>
          <a:prstGeom prst="flowChartDecisi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리워드 작성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견적 요청 시점 </a:t>
            </a:r>
            <a:r>
              <a:rPr lang="en-US" altLang="ko-KR" sz="1600" dirty="0">
                <a:solidFill>
                  <a:schemeClr val="tx1"/>
                </a:solidFill>
              </a:rPr>
              <a:t>15</a:t>
            </a:r>
            <a:r>
              <a:rPr lang="ko-KR" altLang="en-US" sz="1600" dirty="0">
                <a:solidFill>
                  <a:schemeClr val="tx1"/>
                </a:solidFill>
              </a:rPr>
              <a:t>일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경과여부</a:t>
            </a:r>
          </a:p>
        </p:txBody>
      </p: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BA4BE92D-0F4B-D656-CB07-81056C411004}"/>
              </a:ext>
            </a:extLst>
          </p:cNvPr>
          <p:cNvCxnSpPr>
            <a:cxnSpLocks/>
            <a:stCxn id="67" idx="2"/>
            <a:endCxn id="65" idx="0"/>
          </p:cNvCxnSpPr>
          <p:nvPr/>
        </p:nvCxnSpPr>
        <p:spPr>
          <a:xfrm>
            <a:off x="17241417" y="6727045"/>
            <a:ext cx="0" cy="41578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5BA1E041-2842-35A1-0AAB-67BB59271E6A}"/>
              </a:ext>
            </a:extLst>
          </p:cNvPr>
          <p:cNvSpPr txBox="1"/>
          <p:nvPr/>
        </p:nvSpPr>
        <p:spPr>
          <a:xfrm>
            <a:off x="18597738" y="5542556"/>
            <a:ext cx="512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YES</a:t>
            </a:r>
            <a:endParaRPr lang="ko-KR" altLang="en-US" dirty="0"/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8E922059-2815-DAFE-2EA2-D1A89D4A7E5A}"/>
              </a:ext>
            </a:extLst>
          </p:cNvPr>
          <p:cNvSpPr/>
          <p:nvPr/>
        </p:nvSpPr>
        <p:spPr>
          <a:xfrm>
            <a:off x="19073943" y="5027249"/>
            <a:ext cx="2362200" cy="1752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견적요청시점부터 </a:t>
            </a:r>
            <a:r>
              <a:rPr lang="en-US" altLang="ko-KR" sz="1600" dirty="0">
                <a:solidFill>
                  <a:schemeClr val="tx1"/>
                </a:solidFill>
              </a:rPr>
              <a:t>15</a:t>
            </a:r>
            <a:r>
              <a:rPr lang="ko-KR" altLang="en-US" sz="1600" dirty="0">
                <a:solidFill>
                  <a:schemeClr val="tx1"/>
                </a:solidFill>
              </a:rPr>
              <a:t>일 경과되어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정보 이용료 환불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 err="1">
                <a:solidFill>
                  <a:schemeClr val="tx1"/>
                </a:solidFill>
              </a:rPr>
              <a:t>되지않음</a:t>
            </a:r>
            <a:r>
              <a:rPr lang="en-US" altLang="ko-KR" sz="1600" dirty="0">
                <a:solidFill>
                  <a:schemeClr val="tx1"/>
                </a:solidFill>
              </a:rPr>
              <a:t>. </a:t>
            </a:r>
            <a:r>
              <a:rPr lang="ko-KR" altLang="en-US" sz="1600" dirty="0">
                <a:solidFill>
                  <a:schemeClr val="tx1"/>
                </a:solidFill>
              </a:rPr>
              <a:t>안내 문구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출력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A570016F-E384-9B17-C030-12B7F9A21B9B}"/>
              </a:ext>
            </a:extLst>
          </p:cNvPr>
          <p:cNvSpPr/>
          <p:nvPr/>
        </p:nvSpPr>
        <p:spPr>
          <a:xfrm>
            <a:off x="21802865" y="5016927"/>
            <a:ext cx="1895335" cy="1752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차기 이용 시 수수료에서 포인트 차감 우선 </a:t>
            </a:r>
            <a:r>
              <a:rPr lang="en-US" altLang="ko-KR" sz="1600" dirty="0">
                <a:solidFill>
                  <a:schemeClr val="tx1"/>
                </a:solidFill>
              </a:rPr>
              <a:t>/ </a:t>
            </a:r>
            <a:r>
              <a:rPr lang="ko-KR" altLang="en-US" sz="1600" dirty="0" err="1">
                <a:solidFill>
                  <a:schemeClr val="tx1"/>
                </a:solidFill>
              </a:rPr>
              <a:t>포이트</a:t>
            </a:r>
            <a:r>
              <a:rPr lang="ko-KR" altLang="en-US" sz="1600" dirty="0">
                <a:solidFill>
                  <a:schemeClr val="tx1"/>
                </a:solidFill>
              </a:rPr>
              <a:t> </a:t>
            </a:r>
            <a:r>
              <a:rPr lang="ko-KR" altLang="en-US" sz="1600" dirty="0" err="1">
                <a:solidFill>
                  <a:schemeClr val="tx1"/>
                </a:solidFill>
              </a:rPr>
              <a:t>지급후</a:t>
            </a:r>
            <a:r>
              <a:rPr lang="ko-KR" altLang="en-US" sz="1600" dirty="0">
                <a:solidFill>
                  <a:schemeClr val="tx1"/>
                </a:solidFill>
              </a:rPr>
              <a:t> </a:t>
            </a:r>
            <a:r>
              <a:rPr lang="en-US" altLang="ko-KR" sz="1600" dirty="0">
                <a:solidFill>
                  <a:schemeClr val="tx1"/>
                </a:solidFill>
              </a:rPr>
              <a:t>3</a:t>
            </a:r>
            <a:r>
              <a:rPr lang="ko-KR" altLang="en-US" sz="1600" dirty="0">
                <a:solidFill>
                  <a:schemeClr val="tx1"/>
                </a:solidFill>
              </a:rPr>
              <a:t>개월 후부터 현금 인출 활성화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56504489-E147-97ED-A2FE-CE0F98DC75DD}"/>
              </a:ext>
            </a:extLst>
          </p:cNvPr>
          <p:cNvCxnSpPr>
            <a:cxnSpLocks/>
            <a:stCxn id="67" idx="3"/>
            <a:endCxn id="74" idx="1"/>
          </p:cNvCxnSpPr>
          <p:nvPr/>
        </p:nvCxnSpPr>
        <p:spPr>
          <a:xfrm flipV="1">
            <a:off x="18765417" y="5903549"/>
            <a:ext cx="308526" cy="83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BD4FC861-98EC-B184-068A-B630D5C3CF21}"/>
              </a:ext>
            </a:extLst>
          </p:cNvPr>
          <p:cNvCxnSpPr>
            <a:cxnSpLocks/>
            <a:stCxn id="74" idx="3"/>
            <a:endCxn id="76" idx="1"/>
          </p:cNvCxnSpPr>
          <p:nvPr/>
        </p:nvCxnSpPr>
        <p:spPr>
          <a:xfrm flipV="1">
            <a:off x="21436143" y="5893227"/>
            <a:ext cx="366722" cy="103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연결선: 꺾임 79">
            <a:extLst>
              <a:ext uri="{FF2B5EF4-FFF2-40B4-BE49-F238E27FC236}">
                <a16:creationId xmlns:a16="http://schemas.microsoft.com/office/drawing/2014/main" id="{BCD7B57F-6525-6677-30BC-CCEDAF899336}"/>
              </a:ext>
            </a:extLst>
          </p:cNvPr>
          <p:cNvCxnSpPr>
            <a:cxnSpLocks/>
            <a:stCxn id="53" idx="3"/>
            <a:endCxn id="67" idx="0"/>
          </p:cNvCxnSpPr>
          <p:nvPr/>
        </p:nvCxnSpPr>
        <p:spPr>
          <a:xfrm>
            <a:off x="16667595" y="2912972"/>
            <a:ext cx="573822" cy="2183759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DCF94C60-9F22-994D-52BB-1034F17877DD}"/>
              </a:ext>
            </a:extLst>
          </p:cNvPr>
          <p:cNvSpPr txBox="1"/>
          <p:nvPr/>
        </p:nvSpPr>
        <p:spPr>
          <a:xfrm>
            <a:off x="5181280" y="5035455"/>
            <a:ext cx="1181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/>
              <a:t>[S510]</a:t>
            </a:r>
            <a:endParaRPr lang="ko-KR" altLang="en-US" sz="2400" b="1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2773094-D0B3-B4B6-6720-693BE2427B65}"/>
              </a:ext>
            </a:extLst>
          </p:cNvPr>
          <p:cNvSpPr txBox="1"/>
          <p:nvPr/>
        </p:nvSpPr>
        <p:spPr>
          <a:xfrm>
            <a:off x="8593617" y="4904132"/>
            <a:ext cx="1181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/>
              <a:t>[S520]</a:t>
            </a:r>
            <a:endParaRPr lang="ko-KR" altLang="en-US" sz="2400" b="1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1D79A9D-4492-8B9A-82F1-5ADBB7DCCA4F}"/>
              </a:ext>
            </a:extLst>
          </p:cNvPr>
          <p:cNvSpPr txBox="1"/>
          <p:nvPr/>
        </p:nvSpPr>
        <p:spPr>
          <a:xfrm>
            <a:off x="12703791" y="4865898"/>
            <a:ext cx="1181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/>
              <a:t>[S530]</a:t>
            </a:r>
            <a:endParaRPr lang="ko-KR" altLang="en-US" sz="2400" b="1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54B2C90-E6FE-2D1C-5F10-ABA3226EE7DC}"/>
              </a:ext>
            </a:extLst>
          </p:cNvPr>
          <p:cNvSpPr txBox="1"/>
          <p:nvPr/>
        </p:nvSpPr>
        <p:spPr>
          <a:xfrm>
            <a:off x="10535436" y="10353033"/>
            <a:ext cx="1181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/>
              <a:t>[S520]</a:t>
            </a:r>
            <a:endParaRPr lang="ko-KR" altLang="en-US" sz="2400" b="1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1E6E7E3-2D5C-D8A4-5E72-137BAE8B1215}"/>
              </a:ext>
            </a:extLst>
          </p:cNvPr>
          <p:cNvSpPr txBox="1"/>
          <p:nvPr/>
        </p:nvSpPr>
        <p:spPr>
          <a:xfrm>
            <a:off x="13124295" y="10374742"/>
            <a:ext cx="1181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/>
              <a:t>[S520]</a:t>
            </a:r>
            <a:endParaRPr lang="ko-KR" altLang="en-US" sz="2400" b="1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F629BA5-7580-0D17-7D14-5359A2480170}"/>
              </a:ext>
            </a:extLst>
          </p:cNvPr>
          <p:cNvSpPr txBox="1"/>
          <p:nvPr/>
        </p:nvSpPr>
        <p:spPr>
          <a:xfrm>
            <a:off x="14360279" y="1570092"/>
            <a:ext cx="1181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/>
              <a:t>[S600]</a:t>
            </a:r>
            <a:endParaRPr lang="ko-KR" altLang="en-US" sz="2400" b="1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1B8C27F-99F5-280F-9F68-971584D12339}"/>
              </a:ext>
            </a:extLst>
          </p:cNvPr>
          <p:cNvSpPr txBox="1"/>
          <p:nvPr/>
        </p:nvSpPr>
        <p:spPr>
          <a:xfrm>
            <a:off x="16112642" y="4865897"/>
            <a:ext cx="1181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/>
              <a:t>[S610]</a:t>
            </a:r>
            <a:endParaRPr lang="ko-KR" altLang="en-US" sz="2400" b="1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7F759AE-EA96-0FB0-D25B-186375787856}"/>
              </a:ext>
            </a:extLst>
          </p:cNvPr>
          <p:cNvSpPr txBox="1"/>
          <p:nvPr/>
        </p:nvSpPr>
        <p:spPr>
          <a:xfrm>
            <a:off x="16244837" y="10319353"/>
            <a:ext cx="1181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/>
              <a:t>[S610]</a:t>
            </a:r>
            <a:endParaRPr lang="ko-KR" altLang="en-US" sz="2400" b="1" dirty="0"/>
          </a:p>
        </p:txBody>
      </p: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C6D6EE21-5A9C-A34F-8396-217259F3FD63}"/>
              </a:ext>
            </a:extLst>
          </p:cNvPr>
          <p:cNvSpPr/>
          <p:nvPr/>
        </p:nvSpPr>
        <p:spPr>
          <a:xfrm>
            <a:off x="18591089" y="10901130"/>
            <a:ext cx="2362200" cy="1752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유가족에게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리뷰 작성 포인트 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50% </a:t>
            </a:r>
            <a:r>
              <a:rPr lang="ko-KR" altLang="en-US" sz="1600" dirty="0">
                <a:solidFill>
                  <a:schemeClr val="tx1"/>
                </a:solidFill>
              </a:rPr>
              <a:t>지급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문자 전송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cxnSp>
        <p:nvCxnSpPr>
          <p:cNvPr id="100" name="연결선: 꺾임 99">
            <a:extLst>
              <a:ext uri="{FF2B5EF4-FFF2-40B4-BE49-F238E27FC236}">
                <a16:creationId xmlns:a16="http://schemas.microsoft.com/office/drawing/2014/main" id="{3CC62E6A-B76D-71D5-CBA3-144550BB2E1B}"/>
              </a:ext>
            </a:extLst>
          </p:cNvPr>
          <p:cNvCxnSpPr>
            <a:cxnSpLocks/>
            <a:stCxn id="67" idx="2"/>
            <a:endCxn id="99" idx="0"/>
          </p:cNvCxnSpPr>
          <p:nvPr/>
        </p:nvCxnSpPr>
        <p:spPr>
          <a:xfrm rot="16200000" flipH="1">
            <a:off x="16419761" y="7548701"/>
            <a:ext cx="4174085" cy="2530772"/>
          </a:xfrm>
          <a:prstGeom prst="bentConnector3">
            <a:avLst>
              <a:gd name="adj1" fmla="val 81491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연결선: 꺾임 103">
            <a:extLst>
              <a:ext uri="{FF2B5EF4-FFF2-40B4-BE49-F238E27FC236}">
                <a16:creationId xmlns:a16="http://schemas.microsoft.com/office/drawing/2014/main" id="{B627337E-0A1F-40CF-BF38-EB4A4B4723D8}"/>
              </a:ext>
            </a:extLst>
          </p:cNvPr>
          <p:cNvCxnSpPr>
            <a:cxnSpLocks/>
            <a:stCxn id="99" idx="3"/>
            <a:endCxn id="76" idx="2"/>
          </p:cNvCxnSpPr>
          <p:nvPr/>
        </p:nvCxnSpPr>
        <p:spPr>
          <a:xfrm flipV="1">
            <a:off x="20953289" y="6769527"/>
            <a:ext cx="1797244" cy="5007903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0DF415F0-DF9B-94C9-F21E-14CBB6501D7E}"/>
              </a:ext>
            </a:extLst>
          </p:cNvPr>
          <p:cNvSpPr txBox="1"/>
          <p:nvPr/>
        </p:nvSpPr>
        <p:spPr>
          <a:xfrm>
            <a:off x="19110379" y="4542372"/>
            <a:ext cx="1181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/>
              <a:t>[S620]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24710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B586-2C03-903D-4198-7891F006F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>
            <a:extLst>
              <a:ext uri="{FF2B5EF4-FFF2-40B4-BE49-F238E27FC236}">
                <a16:creationId xmlns:a16="http://schemas.microsoft.com/office/drawing/2014/main" id="{FB77BAE6-DE15-53F2-7CA2-438EBB7F7C71}"/>
              </a:ext>
            </a:extLst>
          </p:cNvPr>
          <p:cNvGrpSpPr/>
          <p:nvPr/>
        </p:nvGrpSpPr>
        <p:grpSpPr>
          <a:xfrm>
            <a:off x="381000" y="1447800"/>
            <a:ext cx="23622000" cy="11887200"/>
            <a:chOff x="381000" y="1447800"/>
            <a:chExt cx="23622000" cy="1188720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C88CCE7-1778-7C92-29B4-5B7B61B35FBC}"/>
                </a:ext>
              </a:extLst>
            </p:cNvPr>
            <p:cNvSpPr/>
            <p:nvPr/>
          </p:nvSpPr>
          <p:spPr>
            <a:xfrm>
              <a:off x="381000" y="1447800"/>
              <a:ext cx="23622000" cy="118872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12E7C3EB-4DB1-0E20-902B-31B079B67AD4}"/>
                </a:ext>
              </a:extLst>
            </p:cNvPr>
            <p:cNvCxnSpPr>
              <a:stCxn id="9" idx="1"/>
            </p:cNvCxnSpPr>
            <p:nvPr/>
          </p:nvCxnSpPr>
          <p:spPr>
            <a:xfrm>
              <a:off x="381000" y="7391400"/>
              <a:ext cx="2362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8EB42F2E-C0B6-EE74-80D2-E9058A60036E}"/>
                </a:ext>
              </a:extLst>
            </p:cNvPr>
            <p:cNvCxnSpPr/>
            <p:nvPr/>
          </p:nvCxnSpPr>
          <p:spPr>
            <a:xfrm>
              <a:off x="381000" y="4341844"/>
              <a:ext cx="2362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C8648B3-BC6E-2EF5-E6C0-F3C9D7863D8B}"/>
                </a:ext>
              </a:extLst>
            </p:cNvPr>
            <p:cNvCxnSpPr/>
            <p:nvPr/>
          </p:nvCxnSpPr>
          <p:spPr>
            <a:xfrm>
              <a:off x="381000" y="10287000"/>
              <a:ext cx="2362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B391DF2-4001-8923-7FB0-A0CC556181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5400" y="1447800"/>
              <a:ext cx="152400" cy="11887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71FBA929-6F68-2B7B-ACA9-958DD825FBC5}"/>
                </a:ext>
              </a:extLst>
            </p:cNvPr>
            <p:cNvSpPr/>
            <p:nvPr/>
          </p:nvSpPr>
          <p:spPr>
            <a:xfrm rot="16200000">
              <a:off x="-435533" y="2457189"/>
              <a:ext cx="2586368" cy="8381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유가족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8279BF11-FD54-AF0B-B7FF-E785D4E34ECD}"/>
                </a:ext>
              </a:extLst>
            </p:cNvPr>
            <p:cNvSpPr/>
            <p:nvPr/>
          </p:nvSpPr>
          <p:spPr>
            <a:xfrm rot="16200000">
              <a:off x="-454217" y="5370556"/>
              <a:ext cx="2586368" cy="8381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중계 플랫폼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52A5276D-036B-6790-523B-52782A18DB4A}"/>
                </a:ext>
              </a:extLst>
            </p:cNvPr>
            <p:cNvSpPr/>
            <p:nvPr/>
          </p:nvSpPr>
          <p:spPr>
            <a:xfrm rot="16200000">
              <a:off x="-472866" y="8440316"/>
              <a:ext cx="2586368" cy="79777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상조회사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78223DAF-4C3A-B4BF-5C55-4CE0C00FC9CA}"/>
                </a:ext>
              </a:extLst>
            </p:cNvPr>
            <p:cNvSpPr/>
            <p:nvPr/>
          </p:nvSpPr>
          <p:spPr>
            <a:xfrm rot="16200000">
              <a:off x="-464300" y="11344482"/>
              <a:ext cx="2586368" cy="780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국세청</a:t>
              </a:r>
              <a:r>
                <a:rPr lang="en-US" altLang="ko-KR" dirty="0">
                  <a:solidFill>
                    <a:schemeClr val="tx1"/>
                  </a:solidFill>
                </a:rPr>
                <a:t>/SNS/PG</a:t>
              </a:r>
              <a:r>
                <a:rPr lang="ko-KR" altLang="en-US" dirty="0">
                  <a:solidFill>
                    <a:schemeClr val="tx1"/>
                  </a:solidFill>
                </a:rPr>
                <a:t>사</a:t>
              </a:r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FAF33EE9-10D7-3D07-4F60-8ADADB64F86E}"/>
              </a:ext>
            </a:extLst>
          </p:cNvPr>
          <p:cNvSpPr txBox="1"/>
          <p:nvPr/>
        </p:nvSpPr>
        <p:spPr>
          <a:xfrm>
            <a:off x="264500" y="571500"/>
            <a:ext cx="84064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sz="3200" b="1" dirty="0"/>
              <a:t>단계별 운영 프로세스</a:t>
            </a:r>
            <a:r>
              <a:rPr lang="en-US" altLang="ko-KR" sz="3200" b="1" dirty="0"/>
              <a:t> (</a:t>
            </a:r>
            <a:r>
              <a:rPr lang="ko-KR" altLang="en-US" sz="3200" b="1" dirty="0"/>
              <a:t>공간다원 </a:t>
            </a:r>
            <a:r>
              <a:rPr lang="en-US" altLang="ko-KR" sz="3200" b="1" dirty="0"/>
              <a:t>: </a:t>
            </a:r>
            <a:r>
              <a:rPr lang="ko-KR" altLang="en-US" sz="3200" b="1" dirty="0" err="1"/>
              <a:t>하늘꽃송이</a:t>
            </a:r>
            <a:r>
              <a:rPr lang="en-US" altLang="ko-KR" sz="3200" b="1" dirty="0"/>
              <a:t>)</a:t>
            </a:r>
            <a:endParaRPr lang="ko-KR" altLang="en-US" sz="3200" dirty="0"/>
          </a:p>
        </p:txBody>
      </p:sp>
      <p:grpSp>
        <p:nvGrpSpPr>
          <p:cNvPr id="185" name="그룹 184">
            <a:extLst>
              <a:ext uri="{FF2B5EF4-FFF2-40B4-BE49-F238E27FC236}">
                <a16:creationId xmlns:a16="http://schemas.microsoft.com/office/drawing/2014/main" id="{6B844083-09AB-8650-A9BE-CB7CA1910DAF}"/>
              </a:ext>
            </a:extLst>
          </p:cNvPr>
          <p:cNvGrpSpPr/>
          <p:nvPr/>
        </p:nvGrpSpPr>
        <p:grpSpPr>
          <a:xfrm>
            <a:off x="2418435" y="1530340"/>
            <a:ext cx="19572165" cy="11153556"/>
            <a:chOff x="2418435" y="1530340"/>
            <a:chExt cx="19572165" cy="11153556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6BE32EF5-69C0-3783-904D-CEFBD64F8BDD}"/>
                </a:ext>
              </a:extLst>
            </p:cNvPr>
            <p:cNvSpPr/>
            <p:nvPr/>
          </p:nvSpPr>
          <p:spPr>
            <a:xfrm>
              <a:off x="5435169" y="10923325"/>
              <a:ext cx="2362200" cy="17526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상조 회사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PG</a:t>
              </a:r>
              <a:r>
                <a:rPr lang="ko-KR" altLang="en-US" sz="1600" dirty="0">
                  <a:solidFill>
                    <a:schemeClr val="tx1"/>
                  </a:solidFill>
                </a:rPr>
                <a:t>회사</a:t>
              </a:r>
              <a:br>
                <a:rPr lang="ko-KR" altLang="en-US" sz="1600" dirty="0">
                  <a:solidFill>
                    <a:schemeClr val="tx1"/>
                  </a:solidFill>
                </a:rPr>
              </a:br>
              <a:r>
                <a:rPr lang="ko-KR" altLang="en-US" sz="1600" dirty="0">
                  <a:solidFill>
                    <a:schemeClr val="tx1"/>
                  </a:solidFill>
                </a:rPr>
                <a:t>정보이용료</a:t>
              </a:r>
              <a:br>
                <a:rPr lang="ko-KR" altLang="en-US" sz="1600" dirty="0">
                  <a:solidFill>
                    <a:schemeClr val="tx1"/>
                  </a:solidFill>
                </a:rPr>
              </a:br>
              <a:r>
                <a:rPr lang="ko-KR" altLang="en-US" sz="1600" dirty="0">
                  <a:solidFill>
                    <a:schemeClr val="tx1"/>
                  </a:solidFill>
                </a:rPr>
                <a:t>결제 취소 </a:t>
              </a:r>
              <a:r>
                <a:rPr lang="en-US" altLang="ko-KR" sz="1400" dirty="0">
                  <a:solidFill>
                    <a:schemeClr val="tx1"/>
                  </a:solidFill>
                </a:rPr>
                <a:t>(50% </a:t>
              </a:r>
              <a:r>
                <a:rPr lang="ko-KR" altLang="en-US" sz="1400" dirty="0">
                  <a:solidFill>
                    <a:schemeClr val="tx1"/>
                  </a:solidFill>
                </a:rPr>
                <a:t>차감</a:t>
              </a:r>
              <a:r>
                <a:rPr lang="en-US" altLang="ko-KR" sz="1400" dirty="0">
                  <a:solidFill>
                    <a:schemeClr val="tx1"/>
                  </a:solidFill>
                </a:rPr>
                <a:t>)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66A94470-4752-073B-ECE6-9FBF2C9D8817}"/>
                </a:ext>
              </a:extLst>
            </p:cNvPr>
            <p:cNvSpPr txBox="1"/>
            <p:nvPr/>
          </p:nvSpPr>
          <p:spPr>
            <a:xfrm>
              <a:off x="3138454" y="1530340"/>
              <a:ext cx="86564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b="1" dirty="0"/>
                <a:t>[S700]</a:t>
              </a:r>
              <a:endParaRPr lang="ko-KR" altLang="en-US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31604B5-D273-0B21-8889-8BF5887C45A6}"/>
                </a:ext>
              </a:extLst>
            </p:cNvPr>
            <p:cNvSpPr txBox="1"/>
            <p:nvPr/>
          </p:nvSpPr>
          <p:spPr>
            <a:xfrm>
              <a:off x="6153722" y="4367734"/>
              <a:ext cx="86564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b="1" dirty="0"/>
                <a:t>[S710]</a:t>
              </a:r>
              <a:endParaRPr lang="ko-KR" altLang="en-US" dirty="0"/>
            </a:p>
          </p:txBody>
        </p:sp>
        <p:sp>
          <p:nvSpPr>
            <p:cNvPr id="5" name="순서도: 판단 4">
              <a:extLst>
                <a:ext uri="{FF2B5EF4-FFF2-40B4-BE49-F238E27FC236}">
                  <a16:creationId xmlns:a16="http://schemas.microsoft.com/office/drawing/2014/main" id="{F0509EAE-DE45-86CC-A9D2-1BBBB4C290DE}"/>
                </a:ext>
              </a:extLst>
            </p:cNvPr>
            <p:cNvSpPr/>
            <p:nvPr/>
          </p:nvSpPr>
          <p:spPr>
            <a:xfrm>
              <a:off x="5078645" y="4856566"/>
              <a:ext cx="3048000" cy="1630314"/>
            </a:xfrm>
            <a:prstGeom prst="flowChartDecision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상조회사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선제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취소 여부</a:t>
              </a:r>
            </a:p>
          </p:txBody>
        </p: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ECB8DDE5-5F0E-BEDF-939D-F8846AA3434D}"/>
                </a:ext>
              </a:extLst>
            </p:cNvPr>
            <p:cNvSpPr/>
            <p:nvPr/>
          </p:nvSpPr>
          <p:spPr>
            <a:xfrm>
              <a:off x="7959055" y="10925269"/>
              <a:ext cx="2362200" cy="17526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유가족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PG</a:t>
              </a:r>
              <a:r>
                <a:rPr lang="ko-KR" altLang="en-US" sz="1600" dirty="0">
                  <a:solidFill>
                    <a:schemeClr val="tx1"/>
                  </a:solidFill>
                </a:rPr>
                <a:t>회사</a:t>
              </a:r>
              <a:br>
                <a:rPr lang="ko-KR" altLang="en-US" sz="1600" dirty="0">
                  <a:solidFill>
                    <a:schemeClr val="tx1"/>
                  </a:solidFill>
                </a:rPr>
              </a:br>
              <a:r>
                <a:rPr lang="ko-KR" altLang="en-US" sz="1600" dirty="0">
                  <a:solidFill>
                    <a:schemeClr val="tx1"/>
                  </a:solidFill>
                </a:rPr>
                <a:t>정보이용료</a:t>
              </a:r>
              <a:br>
                <a:rPr lang="ko-KR" altLang="en-US" sz="1600" dirty="0">
                  <a:solidFill>
                    <a:schemeClr val="tx1"/>
                  </a:solidFill>
                </a:rPr>
              </a:br>
              <a:r>
                <a:rPr lang="ko-KR" altLang="en-US" sz="1600" dirty="0">
                  <a:solidFill>
                    <a:schemeClr val="tx1"/>
                  </a:solidFill>
                </a:rPr>
                <a:t>결제 취소 </a:t>
              </a:r>
              <a:r>
                <a:rPr lang="en-US" altLang="ko-KR" sz="1400" dirty="0">
                  <a:solidFill>
                    <a:schemeClr val="tx1"/>
                  </a:solidFill>
                </a:rPr>
                <a:t>(100% </a:t>
              </a:r>
              <a:r>
                <a:rPr lang="ko-KR" altLang="en-US" sz="1400" dirty="0">
                  <a:solidFill>
                    <a:schemeClr val="tx1"/>
                  </a:solidFill>
                </a:rPr>
                <a:t>지급</a:t>
              </a:r>
              <a:r>
                <a:rPr lang="en-US" altLang="ko-KR" sz="1400" dirty="0">
                  <a:solidFill>
                    <a:schemeClr val="tx1"/>
                  </a:solidFill>
                </a:rPr>
                <a:t>)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DBED8F6-0B7C-80A3-01CA-995A4D4B6198}"/>
                </a:ext>
              </a:extLst>
            </p:cNvPr>
            <p:cNvSpPr txBox="1"/>
            <p:nvPr/>
          </p:nvSpPr>
          <p:spPr>
            <a:xfrm>
              <a:off x="6586544" y="6569139"/>
              <a:ext cx="5126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YES</a:t>
              </a:r>
              <a:endParaRPr lang="ko-KR" altLang="en-US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63989C1-2459-3607-4BCE-3EFC5BFC5104}"/>
                </a:ext>
              </a:extLst>
            </p:cNvPr>
            <p:cNvSpPr txBox="1"/>
            <p:nvPr/>
          </p:nvSpPr>
          <p:spPr>
            <a:xfrm>
              <a:off x="8048864" y="5692190"/>
              <a:ext cx="4860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NO</a:t>
              </a:r>
              <a:endParaRPr lang="ko-KR" altLang="en-US" dirty="0"/>
            </a:p>
          </p:txBody>
        </p:sp>
        <p:sp>
          <p:nvSpPr>
            <p:cNvPr id="71" name="사각형: 둥근 모서리 70">
              <a:extLst>
                <a:ext uri="{FF2B5EF4-FFF2-40B4-BE49-F238E27FC236}">
                  <a16:creationId xmlns:a16="http://schemas.microsoft.com/office/drawing/2014/main" id="{D4C8181E-CDAD-A054-11B4-55B0D3850158}"/>
                </a:ext>
              </a:extLst>
            </p:cNvPr>
            <p:cNvSpPr/>
            <p:nvPr/>
          </p:nvSpPr>
          <p:spPr>
            <a:xfrm>
              <a:off x="19628400" y="10931296"/>
              <a:ext cx="2362200" cy="17526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유가족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정보 이용료 결제 취소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상조회사에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문자 전송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77B93881-D208-2015-A178-8B0EAD6B5448}"/>
                </a:ext>
              </a:extLst>
            </p:cNvPr>
            <p:cNvSpPr/>
            <p:nvPr/>
          </p:nvSpPr>
          <p:spPr>
            <a:xfrm>
              <a:off x="14574465" y="10923325"/>
              <a:ext cx="2362200" cy="17526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유가족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PG</a:t>
              </a:r>
              <a:r>
                <a:rPr lang="ko-KR" altLang="en-US" sz="1600" dirty="0">
                  <a:solidFill>
                    <a:schemeClr val="tx1"/>
                  </a:solidFill>
                </a:rPr>
                <a:t>회사</a:t>
              </a:r>
              <a:br>
                <a:rPr lang="ko-KR" altLang="en-US" sz="1600" dirty="0">
                  <a:solidFill>
                    <a:schemeClr val="tx1"/>
                  </a:solidFill>
                </a:rPr>
              </a:br>
              <a:r>
                <a:rPr lang="ko-KR" altLang="en-US" sz="1600" dirty="0">
                  <a:solidFill>
                    <a:schemeClr val="tx1"/>
                  </a:solidFill>
                </a:rPr>
                <a:t>정보이용료</a:t>
              </a:r>
              <a:br>
                <a:rPr lang="ko-KR" altLang="en-US" sz="1600" dirty="0">
                  <a:solidFill>
                    <a:schemeClr val="tx1"/>
                  </a:solidFill>
                </a:rPr>
              </a:br>
              <a:r>
                <a:rPr lang="ko-KR" altLang="en-US" sz="1600" dirty="0">
                  <a:solidFill>
                    <a:schemeClr val="tx1"/>
                  </a:solidFill>
                </a:rPr>
                <a:t>결제 취소 </a:t>
              </a:r>
              <a:r>
                <a:rPr lang="en-US" altLang="ko-KR" sz="1400" dirty="0">
                  <a:solidFill>
                    <a:schemeClr val="tx1"/>
                  </a:solidFill>
                </a:rPr>
                <a:t>(50% </a:t>
              </a:r>
              <a:r>
                <a:rPr lang="ko-KR" altLang="en-US" sz="1400" dirty="0">
                  <a:solidFill>
                    <a:schemeClr val="tx1"/>
                  </a:solidFill>
                </a:rPr>
                <a:t>차감</a:t>
              </a:r>
              <a:r>
                <a:rPr lang="en-US" altLang="ko-KR" sz="1400" dirty="0">
                  <a:solidFill>
                    <a:schemeClr val="tx1"/>
                  </a:solidFill>
                </a:rPr>
                <a:t>)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17" name="사각형: 둥근 모서리 116">
              <a:extLst>
                <a:ext uri="{FF2B5EF4-FFF2-40B4-BE49-F238E27FC236}">
                  <a16:creationId xmlns:a16="http://schemas.microsoft.com/office/drawing/2014/main" id="{9CB06B23-4007-C01F-03F8-5DF0756DD44A}"/>
                </a:ext>
              </a:extLst>
            </p:cNvPr>
            <p:cNvSpPr/>
            <p:nvPr/>
          </p:nvSpPr>
          <p:spPr>
            <a:xfrm>
              <a:off x="17093058" y="10931296"/>
              <a:ext cx="2362200" cy="17526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상조회사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PG</a:t>
              </a:r>
              <a:r>
                <a:rPr lang="ko-KR" altLang="en-US" sz="1600" dirty="0">
                  <a:solidFill>
                    <a:schemeClr val="tx1"/>
                  </a:solidFill>
                </a:rPr>
                <a:t>회사</a:t>
              </a:r>
              <a:br>
                <a:rPr lang="ko-KR" altLang="en-US" sz="1600" dirty="0">
                  <a:solidFill>
                    <a:schemeClr val="tx1"/>
                  </a:solidFill>
                </a:rPr>
              </a:br>
              <a:r>
                <a:rPr lang="ko-KR" altLang="en-US" sz="1600" dirty="0">
                  <a:solidFill>
                    <a:schemeClr val="tx1"/>
                  </a:solidFill>
                </a:rPr>
                <a:t>정보이용료</a:t>
              </a:r>
              <a:br>
                <a:rPr lang="ko-KR" altLang="en-US" sz="1600" dirty="0">
                  <a:solidFill>
                    <a:schemeClr val="tx1"/>
                  </a:solidFill>
                </a:rPr>
              </a:br>
              <a:r>
                <a:rPr lang="ko-KR" altLang="en-US" sz="1600" dirty="0">
                  <a:solidFill>
                    <a:schemeClr val="tx1"/>
                  </a:solidFill>
                </a:rPr>
                <a:t>결제 취소 </a:t>
              </a:r>
              <a:r>
                <a:rPr lang="en-US" altLang="ko-KR" sz="1400" dirty="0">
                  <a:solidFill>
                    <a:schemeClr val="tx1"/>
                  </a:solidFill>
                </a:rPr>
                <a:t>(100% </a:t>
              </a:r>
              <a:r>
                <a:rPr lang="ko-KR" altLang="en-US" sz="1400" dirty="0">
                  <a:solidFill>
                    <a:schemeClr val="tx1"/>
                  </a:solidFill>
                </a:rPr>
                <a:t>지급</a:t>
              </a:r>
              <a:r>
                <a:rPr lang="en-US" altLang="ko-KR" sz="1400" dirty="0">
                  <a:solidFill>
                    <a:schemeClr val="tx1"/>
                  </a:solidFill>
                </a:rPr>
                <a:t>)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25" name="사각형: 둥근 모서리 124">
              <a:extLst>
                <a:ext uri="{FF2B5EF4-FFF2-40B4-BE49-F238E27FC236}">
                  <a16:creationId xmlns:a16="http://schemas.microsoft.com/office/drawing/2014/main" id="{C49F200B-9491-564D-470E-77609B7411DA}"/>
                </a:ext>
              </a:extLst>
            </p:cNvPr>
            <p:cNvSpPr/>
            <p:nvPr/>
          </p:nvSpPr>
          <p:spPr>
            <a:xfrm>
              <a:off x="2418435" y="1922495"/>
              <a:ext cx="2362200" cy="17526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정보 이용료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결제 취소 요청</a:t>
              </a:r>
            </a:p>
          </p:txBody>
        </p:sp>
        <p:sp>
          <p:nvSpPr>
            <p:cNvPr id="126" name="사각형: 둥근 모서리 125">
              <a:extLst>
                <a:ext uri="{FF2B5EF4-FFF2-40B4-BE49-F238E27FC236}">
                  <a16:creationId xmlns:a16="http://schemas.microsoft.com/office/drawing/2014/main" id="{1EF4C282-112D-4226-08F3-B840010312A4}"/>
                </a:ext>
              </a:extLst>
            </p:cNvPr>
            <p:cNvSpPr/>
            <p:nvPr/>
          </p:nvSpPr>
          <p:spPr>
            <a:xfrm>
              <a:off x="2418435" y="8050510"/>
              <a:ext cx="2362200" cy="17526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정보 이용료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결제 취소 요청</a:t>
              </a:r>
            </a:p>
          </p:txBody>
        </p:sp>
        <p:cxnSp>
          <p:nvCxnSpPr>
            <p:cNvPr id="127" name="연결선: 꺾임 126">
              <a:extLst>
                <a:ext uri="{FF2B5EF4-FFF2-40B4-BE49-F238E27FC236}">
                  <a16:creationId xmlns:a16="http://schemas.microsoft.com/office/drawing/2014/main" id="{4C6257D9-77A5-D9A4-06B8-710F40E128C0}"/>
                </a:ext>
              </a:extLst>
            </p:cNvPr>
            <p:cNvCxnSpPr>
              <a:cxnSpLocks/>
              <a:stCxn id="126" idx="0"/>
              <a:endCxn id="5" idx="1"/>
            </p:cNvCxnSpPr>
            <p:nvPr/>
          </p:nvCxnSpPr>
          <p:spPr>
            <a:xfrm rot="5400000" flipH="1" flipV="1">
              <a:off x="3149697" y="6121562"/>
              <a:ext cx="2378787" cy="1479110"/>
            </a:xfrm>
            <a:prstGeom prst="bentConnector2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연결선: 꺾임 127">
              <a:extLst>
                <a:ext uri="{FF2B5EF4-FFF2-40B4-BE49-F238E27FC236}">
                  <a16:creationId xmlns:a16="http://schemas.microsoft.com/office/drawing/2014/main" id="{792BF3E1-4EAA-ECDE-6FFD-9688326FD7AA}"/>
                </a:ext>
              </a:extLst>
            </p:cNvPr>
            <p:cNvCxnSpPr>
              <a:cxnSpLocks/>
              <a:stCxn id="125" idx="2"/>
            </p:cNvCxnSpPr>
            <p:nvPr/>
          </p:nvCxnSpPr>
          <p:spPr>
            <a:xfrm rot="16200000" flipH="1">
              <a:off x="3330543" y="3944087"/>
              <a:ext cx="2017095" cy="1479110"/>
            </a:xfrm>
            <a:prstGeom prst="bentConnector3">
              <a:avLst>
                <a:gd name="adj1" fmla="val 99958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연결선: 꺾임 133">
              <a:extLst>
                <a:ext uri="{FF2B5EF4-FFF2-40B4-BE49-F238E27FC236}">
                  <a16:creationId xmlns:a16="http://schemas.microsoft.com/office/drawing/2014/main" id="{66F091D6-23A6-AE38-85F5-709213D337A8}"/>
                </a:ext>
              </a:extLst>
            </p:cNvPr>
            <p:cNvCxnSpPr>
              <a:cxnSpLocks/>
              <a:stCxn id="5" idx="2"/>
              <a:endCxn id="10" idx="0"/>
            </p:cNvCxnSpPr>
            <p:nvPr/>
          </p:nvCxnSpPr>
          <p:spPr>
            <a:xfrm rot="16200000" flipH="1">
              <a:off x="4391235" y="8698290"/>
              <a:ext cx="4436445" cy="13624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연결선: 꺾임 137">
              <a:extLst>
                <a:ext uri="{FF2B5EF4-FFF2-40B4-BE49-F238E27FC236}">
                  <a16:creationId xmlns:a16="http://schemas.microsoft.com/office/drawing/2014/main" id="{1BDD64AE-8387-1FAC-0705-0B01D838644F}"/>
                </a:ext>
              </a:extLst>
            </p:cNvPr>
            <p:cNvCxnSpPr>
              <a:cxnSpLocks/>
              <a:stCxn id="5" idx="2"/>
              <a:endCxn id="30" idx="0"/>
            </p:cNvCxnSpPr>
            <p:nvPr/>
          </p:nvCxnSpPr>
          <p:spPr>
            <a:xfrm rot="16200000" flipH="1">
              <a:off x="5652206" y="7437319"/>
              <a:ext cx="4438389" cy="2537510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순서도: 판단 148">
              <a:extLst>
                <a:ext uri="{FF2B5EF4-FFF2-40B4-BE49-F238E27FC236}">
                  <a16:creationId xmlns:a16="http://schemas.microsoft.com/office/drawing/2014/main" id="{4C8E7DE7-3117-17AB-0A13-7D6C94B181F0}"/>
                </a:ext>
              </a:extLst>
            </p:cNvPr>
            <p:cNvSpPr/>
            <p:nvPr/>
          </p:nvSpPr>
          <p:spPr>
            <a:xfrm>
              <a:off x="14230787" y="4844396"/>
              <a:ext cx="3048000" cy="1630314"/>
            </a:xfrm>
            <a:prstGeom prst="flowChartDecision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유가족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선제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취소 여부</a:t>
              </a:r>
            </a:p>
          </p:txBody>
        </p:sp>
        <p:cxnSp>
          <p:nvCxnSpPr>
            <p:cNvPr id="150" name="직선 화살표 연결선 149">
              <a:extLst>
                <a:ext uri="{FF2B5EF4-FFF2-40B4-BE49-F238E27FC236}">
                  <a16:creationId xmlns:a16="http://schemas.microsoft.com/office/drawing/2014/main" id="{CC5A1EEE-F7E7-C159-FBE7-FCC0E44EF214}"/>
                </a:ext>
              </a:extLst>
            </p:cNvPr>
            <p:cNvCxnSpPr>
              <a:cxnSpLocks/>
              <a:stCxn id="5" idx="3"/>
              <a:endCxn id="149" idx="1"/>
            </p:cNvCxnSpPr>
            <p:nvPr/>
          </p:nvCxnSpPr>
          <p:spPr>
            <a:xfrm flipV="1">
              <a:off x="8126645" y="5659553"/>
              <a:ext cx="6104142" cy="1217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연결선: 꺾임 153">
              <a:extLst>
                <a:ext uri="{FF2B5EF4-FFF2-40B4-BE49-F238E27FC236}">
                  <a16:creationId xmlns:a16="http://schemas.microsoft.com/office/drawing/2014/main" id="{2A5414BC-AC57-E3B7-D739-9E00B7577C0E}"/>
                </a:ext>
              </a:extLst>
            </p:cNvPr>
            <p:cNvCxnSpPr>
              <a:cxnSpLocks/>
              <a:stCxn id="149" idx="2"/>
              <a:endCxn id="85" idx="0"/>
            </p:cNvCxnSpPr>
            <p:nvPr/>
          </p:nvCxnSpPr>
          <p:spPr>
            <a:xfrm rot="16200000" flipH="1">
              <a:off x="13530869" y="8698628"/>
              <a:ext cx="4448615" cy="778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연결선: 꺾임 156">
              <a:extLst>
                <a:ext uri="{FF2B5EF4-FFF2-40B4-BE49-F238E27FC236}">
                  <a16:creationId xmlns:a16="http://schemas.microsoft.com/office/drawing/2014/main" id="{8F385D17-2919-0E42-C54E-72901C067567}"/>
                </a:ext>
              </a:extLst>
            </p:cNvPr>
            <p:cNvCxnSpPr>
              <a:cxnSpLocks/>
              <a:stCxn id="149" idx="2"/>
              <a:endCxn id="117" idx="0"/>
            </p:cNvCxnSpPr>
            <p:nvPr/>
          </p:nvCxnSpPr>
          <p:spPr>
            <a:xfrm rot="16200000" flipH="1">
              <a:off x="14786179" y="7443317"/>
              <a:ext cx="4456586" cy="2519371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사각형: 둥근 모서리 159">
              <a:extLst>
                <a:ext uri="{FF2B5EF4-FFF2-40B4-BE49-F238E27FC236}">
                  <a16:creationId xmlns:a16="http://schemas.microsoft.com/office/drawing/2014/main" id="{3A1845DA-4E05-CCC4-F489-02B916002CBE}"/>
                </a:ext>
              </a:extLst>
            </p:cNvPr>
            <p:cNvSpPr/>
            <p:nvPr/>
          </p:nvSpPr>
          <p:spPr>
            <a:xfrm>
              <a:off x="18398461" y="4769752"/>
              <a:ext cx="2362200" cy="17526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[S700: </a:t>
              </a:r>
              <a:r>
                <a:rPr lang="ko-KR" altLang="en-US" sz="1600" dirty="0">
                  <a:solidFill>
                    <a:schemeClr val="tx1"/>
                  </a:solidFill>
                </a:rPr>
                <a:t>정보 이용료 취소 및 위약금 관리 단계</a:t>
              </a:r>
              <a:r>
                <a:rPr lang="en-US" altLang="ko-KR" sz="1600" dirty="0">
                  <a:solidFill>
                    <a:schemeClr val="tx1"/>
                  </a:solidFill>
                </a:rPr>
                <a:t>]</a:t>
              </a:r>
            </a:p>
            <a:p>
              <a:pPr algn="ctr"/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종료</a:t>
              </a:r>
            </a:p>
          </p:txBody>
        </p:sp>
        <p:cxnSp>
          <p:nvCxnSpPr>
            <p:cNvPr id="161" name="직선 화살표 연결선 160">
              <a:extLst>
                <a:ext uri="{FF2B5EF4-FFF2-40B4-BE49-F238E27FC236}">
                  <a16:creationId xmlns:a16="http://schemas.microsoft.com/office/drawing/2014/main" id="{985AE336-5664-D7C5-D477-4559F82A4280}"/>
                </a:ext>
              </a:extLst>
            </p:cNvPr>
            <p:cNvCxnSpPr>
              <a:cxnSpLocks/>
              <a:stCxn id="149" idx="3"/>
              <a:endCxn id="160" idx="1"/>
            </p:cNvCxnSpPr>
            <p:nvPr/>
          </p:nvCxnSpPr>
          <p:spPr>
            <a:xfrm flipV="1">
              <a:off x="17278787" y="5646052"/>
              <a:ext cx="1119674" cy="1350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연결선: 꺾임 166">
              <a:extLst>
                <a:ext uri="{FF2B5EF4-FFF2-40B4-BE49-F238E27FC236}">
                  <a16:creationId xmlns:a16="http://schemas.microsoft.com/office/drawing/2014/main" id="{5503D5F8-D58A-E08D-AFD1-462D38146F90}"/>
                </a:ext>
              </a:extLst>
            </p:cNvPr>
            <p:cNvCxnSpPr>
              <a:cxnSpLocks/>
              <a:stCxn id="149" idx="2"/>
              <a:endCxn id="71" idx="0"/>
            </p:cNvCxnSpPr>
            <p:nvPr/>
          </p:nvCxnSpPr>
          <p:spPr>
            <a:xfrm rot="16200000" flipH="1">
              <a:off x="16053850" y="6175646"/>
              <a:ext cx="4456586" cy="5054713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" name="사각형: 둥근 모서리 170">
              <a:extLst>
                <a:ext uri="{FF2B5EF4-FFF2-40B4-BE49-F238E27FC236}">
                  <a16:creationId xmlns:a16="http://schemas.microsoft.com/office/drawing/2014/main" id="{1404AD26-A3A1-3703-3DD6-0CC9900B9C9A}"/>
                </a:ext>
              </a:extLst>
            </p:cNvPr>
            <p:cNvSpPr/>
            <p:nvPr/>
          </p:nvSpPr>
          <p:spPr>
            <a:xfrm>
              <a:off x="10415602" y="10920054"/>
              <a:ext cx="2362200" cy="17526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상조 회사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정보 이용료 결제 취소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유가족에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문자 전송</a:t>
              </a:r>
            </a:p>
          </p:txBody>
        </p:sp>
        <p:cxnSp>
          <p:nvCxnSpPr>
            <p:cNvPr id="172" name="연결선: 꺾임 171">
              <a:extLst>
                <a:ext uri="{FF2B5EF4-FFF2-40B4-BE49-F238E27FC236}">
                  <a16:creationId xmlns:a16="http://schemas.microsoft.com/office/drawing/2014/main" id="{13B70BD5-EADC-87E3-EF5F-C742302DEE93}"/>
                </a:ext>
              </a:extLst>
            </p:cNvPr>
            <p:cNvCxnSpPr>
              <a:cxnSpLocks/>
              <a:stCxn id="5" idx="2"/>
              <a:endCxn id="171" idx="0"/>
            </p:cNvCxnSpPr>
            <p:nvPr/>
          </p:nvCxnSpPr>
          <p:spPr>
            <a:xfrm rot="16200000" flipH="1">
              <a:off x="6883086" y="6206438"/>
              <a:ext cx="4433174" cy="4994057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85118F71-5159-E8F6-BD33-EA851F552927}"/>
                </a:ext>
              </a:extLst>
            </p:cNvPr>
            <p:cNvSpPr txBox="1"/>
            <p:nvPr/>
          </p:nvSpPr>
          <p:spPr>
            <a:xfrm>
              <a:off x="15751394" y="6474708"/>
              <a:ext cx="5126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YES</a:t>
              </a:r>
              <a:endParaRPr lang="ko-KR" altLang="en-US" dirty="0"/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76B5D620-CE0C-996C-3075-A75C188AB9AB}"/>
                </a:ext>
              </a:extLst>
            </p:cNvPr>
            <p:cNvSpPr txBox="1"/>
            <p:nvPr/>
          </p:nvSpPr>
          <p:spPr>
            <a:xfrm>
              <a:off x="17209602" y="5659552"/>
              <a:ext cx="4860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NO</a:t>
              </a:r>
              <a:endParaRPr lang="ko-KR" altLang="en-US" dirty="0"/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6C96E634-9321-CC18-7C03-DE8CF93295B6}"/>
                </a:ext>
              </a:extLst>
            </p:cNvPr>
            <p:cNvSpPr txBox="1"/>
            <p:nvPr/>
          </p:nvSpPr>
          <p:spPr>
            <a:xfrm>
              <a:off x="15398392" y="4333873"/>
              <a:ext cx="86564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b="1" dirty="0"/>
                <a:t>[S710]</a:t>
              </a:r>
              <a:endParaRPr lang="ko-KR" altLang="en-US" dirty="0"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76EE0F33-5508-DC64-3291-F5FF168ED4A3}"/>
                </a:ext>
              </a:extLst>
            </p:cNvPr>
            <p:cNvSpPr txBox="1"/>
            <p:nvPr/>
          </p:nvSpPr>
          <p:spPr>
            <a:xfrm>
              <a:off x="6649501" y="10448012"/>
              <a:ext cx="86564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b="1" dirty="0"/>
                <a:t>[S720]</a:t>
              </a:r>
              <a:endParaRPr lang="ko-KR" altLang="en-US" dirty="0"/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5D05140E-5D59-999A-C8A9-B0CCCE2B314E}"/>
                </a:ext>
              </a:extLst>
            </p:cNvPr>
            <p:cNvSpPr txBox="1"/>
            <p:nvPr/>
          </p:nvSpPr>
          <p:spPr>
            <a:xfrm>
              <a:off x="9215613" y="10410175"/>
              <a:ext cx="86564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b="1" dirty="0"/>
                <a:t>[S720]</a:t>
              </a:r>
              <a:endParaRPr lang="ko-KR" altLang="en-US" dirty="0"/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FACEF0DC-C925-CF82-580A-612D9D605219}"/>
                </a:ext>
              </a:extLst>
            </p:cNvPr>
            <p:cNvSpPr txBox="1"/>
            <p:nvPr/>
          </p:nvSpPr>
          <p:spPr>
            <a:xfrm>
              <a:off x="11644361" y="10433508"/>
              <a:ext cx="86564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b="1" dirty="0"/>
                <a:t>[S720]</a:t>
              </a:r>
              <a:endParaRPr lang="ko-KR" altLang="en-US" dirty="0"/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BF96AA0E-B70C-B30A-8CDA-4541DA347B8F}"/>
                </a:ext>
              </a:extLst>
            </p:cNvPr>
            <p:cNvSpPr txBox="1"/>
            <p:nvPr/>
          </p:nvSpPr>
          <p:spPr>
            <a:xfrm>
              <a:off x="15751394" y="10438885"/>
              <a:ext cx="86564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b="1" dirty="0"/>
                <a:t>[S720]</a:t>
              </a:r>
              <a:endParaRPr lang="ko-KR" altLang="en-US" dirty="0"/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1FD8D492-621C-06CB-10B5-78FFE9EFAF19}"/>
                </a:ext>
              </a:extLst>
            </p:cNvPr>
            <p:cNvSpPr txBox="1"/>
            <p:nvPr/>
          </p:nvSpPr>
          <p:spPr>
            <a:xfrm>
              <a:off x="18299445" y="10442123"/>
              <a:ext cx="86564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b="1" dirty="0"/>
                <a:t>[S720]</a:t>
              </a:r>
              <a:endParaRPr lang="ko-KR" altLang="en-US" dirty="0"/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64F9FD2F-5C0D-3540-F324-D5225B3A31AA}"/>
                </a:ext>
              </a:extLst>
            </p:cNvPr>
            <p:cNvSpPr txBox="1"/>
            <p:nvPr/>
          </p:nvSpPr>
          <p:spPr>
            <a:xfrm>
              <a:off x="20776268" y="10444892"/>
              <a:ext cx="86564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b="1" dirty="0"/>
                <a:t>[S720]</a:t>
              </a:r>
              <a:endParaRPr lang="ko-KR" altLang="en-US" dirty="0"/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0C975D29-4207-98B6-9E55-9EEFBFB85D42}"/>
                </a:ext>
              </a:extLst>
            </p:cNvPr>
            <p:cNvSpPr txBox="1"/>
            <p:nvPr/>
          </p:nvSpPr>
          <p:spPr>
            <a:xfrm>
              <a:off x="2656686" y="7623899"/>
              <a:ext cx="86564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b="1" dirty="0"/>
                <a:t>[S700]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90650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EDAEC-B947-2CF9-22CF-A08510D57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>
            <a:extLst>
              <a:ext uri="{FF2B5EF4-FFF2-40B4-BE49-F238E27FC236}">
                <a16:creationId xmlns:a16="http://schemas.microsoft.com/office/drawing/2014/main" id="{974B5813-3124-9D97-322A-959FBED6A675}"/>
              </a:ext>
            </a:extLst>
          </p:cNvPr>
          <p:cNvGrpSpPr/>
          <p:nvPr/>
        </p:nvGrpSpPr>
        <p:grpSpPr>
          <a:xfrm>
            <a:off x="381000" y="1447800"/>
            <a:ext cx="23622000" cy="11887200"/>
            <a:chOff x="381000" y="1447800"/>
            <a:chExt cx="23622000" cy="1188720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69834276-F110-62FC-5A70-1D18E71653F9}"/>
                </a:ext>
              </a:extLst>
            </p:cNvPr>
            <p:cNvSpPr/>
            <p:nvPr/>
          </p:nvSpPr>
          <p:spPr>
            <a:xfrm>
              <a:off x="381000" y="1447800"/>
              <a:ext cx="23622000" cy="118872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74FC9E86-D4B1-4562-F189-CA058D862394}"/>
                </a:ext>
              </a:extLst>
            </p:cNvPr>
            <p:cNvCxnSpPr>
              <a:stCxn id="9" idx="1"/>
            </p:cNvCxnSpPr>
            <p:nvPr/>
          </p:nvCxnSpPr>
          <p:spPr>
            <a:xfrm>
              <a:off x="381000" y="7391400"/>
              <a:ext cx="2362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89F85F51-FB1A-290B-F225-386F0F368F0A}"/>
                </a:ext>
              </a:extLst>
            </p:cNvPr>
            <p:cNvCxnSpPr/>
            <p:nvPr/>
          </p:nvCxnSpPr>
          <p:spPr>
            <a:xfrm>
              <a:off x="381000" y="4341844"/>
              <a:ext cx="2362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BAC26F78-ACDD-EA61-6D40-8C2B900291AB}"/>
                </a:ext>
              </a:extLst>
            </p:cNvPr>
            <p:cNvCxnSpPr/>
            <p:nvPr/>
          </p:nvCxnSpPr>
          <p:spPr>
            <a:xfrm>
              <a:off x="381000" y="10287000"/>
              <a:ext cx="2362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44BE433D-5665-EEF0-F0B1-CF470782DF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5400" y="1447800"/>
              <a:ext cx="152400" cy="11887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85D8EF6E-0679-D6D5-0081-DC34B9D01671}"/>
                </a:ext>
              </a:extLst>
            </p:cNvPr>
            <p:cNvSpPr/>
            <p:nvPr/>
          </p:nvSpPr>
          <p:spPr>
            <a:xfrm rot="16200000">
              <a:off x="-435533" y="2457189"/>
              <a:ext cx="2586368" cy="8381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유가족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9A664386-8472-4F2B-BB4A-6908B2C4B901}"/>
                </a:ext>
              </a:extLst>
            </p:cNvPr>
            <p:cNvSpPr/>
            <p:nvPr/>
          </p:nvSpPr>
          <p:spPr>
            <a:xfrm rot="16200000">
              <a:off x="-454217" y="5370556"/>
              <a:ext cx="2586368" cy="8381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중계 플랫폼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1E729E3-A69A-26C5-C7FA-DD14F96572A4}"/>
                </a:ext>
              </a:extLst>
            </p:cNvPr>
            <p:cNvSpPr/>
            <p:nvPr/>
          </p:nvSpPr>
          <p:spPr>
            <a:xfrm rot="16200000">
              <a:off x="-472866" y="8440316"/>
              <a:ext cx="2586368" cy="79777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상조회사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83769BB-B46B-9EF6-E88F-900223A8C447}"/>
                </a:ext>
              </a:extLst>
            </p:cNvPr>
            <p:cNvSpPr/>
            <p:nvPr/>
          </p:nvSpPr>
          <p:spPr>
            <a:xfrm rot="16200000">
              <a:off x="-464300" y="11344482"/>
              <a:ext cx="2586368" cy="780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국세청</a:t>
              </a:r>
              <a:r>
                <a:rPr lang="en-US" altLang="ko-KR" dirty="0">
                  <a:solidFill>
                    <a:schemeClr val="tx1"/>
                  </a:solidFill>
                </a:rPr>
                <a:t>/SNS/PG</a:t>
              </a:r>
              <a:r>
                <a:rPr lang="ko-KR" altLang="en-US" dirty="0">
                  <a:solidFill>
                    <a:schemeClr val="tx1"/>
                  </a:solidFill>
                </a:rPr>
                <a:t>사</a:t>
              </a:r>
            </a:p>
          </p:txBody>
        </p:sp>
      </p:grp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0672573-2A8C-FFC0-396B-F870DCC69303}"/>
              </a:ext>
            </a:extLst>
          </p:cNvPr>
          <p:cNvSpPr/>
          <p:nvPr/>
        </p:nvSpPr>
        <p:spPr>
          <a:xfrm>
            <a:off x="8290139" y="4895403"/>
            <a:ext cx="2362200" cy="1752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상조 회사</a:t>
            </a:r>
            <a:br>
              <a:rPr lang="ko-KR" altLang="en-US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결제 취소</a:t>
            </a:r>
            <a:br>
              <a:rPr lang="ko-KR" altLang="en-US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건수 검증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(BATCH)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054FF-148A-6003-5B3C-A48A66429ABA}"/>
              </a:ext>
            </a:extLst>
          </p:cNvPr>
          <p:cNvSpPr txBox="1"/>
          <p:nvPr/>
        </p:nvSpPr>
        <p:spPr>
          <a:xfrm>
            <a:off x="20041890" y="5789644"/>
            <a:ext cx="512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YES</a:t>
            </a:r>
            <a:endParaRPr lang="ko-KR" altLang="en-US" dirty="0"/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BA9A2D44-A6B7-A387-ACC3-3B261DB7854B}"/>
              </a:ext>
            </a:extLst>
          </p:cNvPr>
          <p:cNvCxnSpPr>
            <a:cxnSpLocks/>
            <a:stCxn id="3" idx="2"/>
            <a:endCxn id="24" idx="2"/>
          </p:cNvCxnSpPr>
          <p:nvPr/>
        </p:nvCxnSpPr>
        <p:spPr>
          <a:xfrm rot="5400000">
            <a:off x="10953470" y="5102538"/>
            <a:ext cx="63234" cy="3027696"/>
          </a:xfrm>
          <a:prstGeom prst="bentConnector3">
            <a:avLst>
              <a:gd name="adj1" fmla="val 461514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F4EC226-457D-1DA0-28DF-24E5C127C64F}"/>
              </a:ext>
            </a:extLst>
          </p:cNvPr>
          <p:cNvSpPr txBox="1"/>
          <p:nvPr/>
        </p:nvSpPr>
        <p:spPr>
          <a:xfrm>
            <a:off x="13842727" y="5845812"/>
            <a:ext cx="512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YES</a:t>
            </a:r>
            <a:endParaRPr lang="ko-KR" altLang="en-US" dirty="0"/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C43B21B3-BD7D-A9A9-2C61-6FB2F934BD7E}"/>
              </a:ext>
            </a:extLst>
          </p:cNvPr>
          <p:cNvCxnSpPr>
            <a:cxnSpLocks/>
            <a:stCxn id="24" idx="3"/>
            <a:endCxn id="3" idx="1"/>
          </p:cNvCxnSpPr>
          <p:nvPr/>
        </p:nvCxnSpPr>
        <p:spPr>
          <a:xfrm flipV="1">
            <a:off x="10652339" y="5769612"/>
            <a:ext cx="322596" cy="20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769A4B1A-4074-3BF9-F705-B79F6847B92E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 flipV="1">
            <a:off x="14022935" y="5760628"/>
            <a:ext cx="319096" cy="89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852E8F46-2CE3-763D-7CD6-EF0397122A40}"/>
              </a:ext>
            </a:extLst>
          </p:cNvPr>
          <p:cNvCxnSpPr>
            <a:cxnSpLocks/>
            <a:stCxn id="6" idx="2"/>
            <a:endCxn id="5" idx="2"/>
          </p:cNvCxnSpPr>
          <p:nvPr/>
        </p:nvCxnSpPr>
        <p:spPr>
          <a:xfrm rot="5400000">
            <a:off x="17015863" y="5092038"/>
            <a:ext cx="52159" cy="3037621"/>
          </a:xfrm>
          <a:prstGeom prst="bentConnector3">
            <a:avLst>
              <a:gd name="adj1" fmla="val 538275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3BBE7FB-E42A-0F4F-B039-1285214376CE}"/>
              </a:ext>
            </a:extLst>
          </p:cNvPr>
          <p:cNvSpPr txBox="1"/>
          <p:nvPr/>
        </p:nvSpPr>
        <p:spPr>
          <a:xfrm>
            <a:off x="18514483" y="6543895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NO</a:t>
            </a:r>
            <a:endParaRPr lang="ko-KR" altLang="en-US" dirty="0"/>
          </a:p>
        </p:txBody>
      </p: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F0C554E1-3D1B-38D0-B127-06C98C7547AC}"/>
              </a:ext>
            </a:extLst>
          </p:cNvPr>
          <p:cNvCxnSpPr>
            <a:cxnSpLocks/>
            <a:stCxn id="2" idx="0"/>
            <a:endCxn id="24" idx="0"/>
          </p:cNvCxnSpPr>
          <p:nvPr/>
        </p:nvCxnSpPr>
        <p:spPr>
          <a:xfrm rot="16200000" flipV="1">
            <a:off x="15611527" y="-1244884"/>
            <a:ext cx="3287" cy="12283861"/>
          </a:xfrm>
          <a:prstGeom prst="bentConnector3">
            <a:avLst>
              <a:gd name="adj1" fmla="val 1102875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순서도: 판단 2">
            <a:extLst>
              <a:ext uri="{FF2B5EF4-FFF2-40B4-BE49-F238E27FC236}">
                <a16:creationId xmlns:a16="http://schemas.microsoft.com/office/drawing/2014/main" id="{E3EE13B0-2EFA-4CA4-E885-AEE4739D9127}"/>
              </a:ext>
            </a:extLst>
          </p:cNvPr>
          <p:cNvSpPr/>
          <p:nvPr/>
        </p:nvSpPr>
        <p:spPr>
          <a:xfrm>
            <a:off x="10974935" y="4954455"/>
            <a:ext cx="3048000" cy="1630314"/>
          </a:xfrm>
          <a:prstGeom prst="flowChartDecisi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주</a:t>
            </a:r>
            <a:r>
              <a:rPr lang="en-US" altLang="ko-KR" sz="1600" dirty="0">
                <a:solidFill>
                  <a:schemeClr val="tx1"/>
                </a:solidFill>
              </a:rPr>
              <a:t>2</a:t>
            </a:r>
            <a:r>
              <a:rPr lang="ko-KR" altLang="en-US" sz="1600" dirty="0">
                <a:solidFill>
                  <a:schemeClr val="tx1"/>
                </a:solidFill>
              </a:rPr>
              <a:t>회 또는</a:t>
            </a:r>
            <a:br>
              <a:rPr lang="en-US" altLang="ko-KR" sz="1600" dirty="0">
                <a:solidFill>
                  <a:schemeClr val="tx1"/>
                </a:solidFill>
              </a:rPr>
            </a:br>
            <a:r>
              <a:rPr lang="ko-KR" altLang="en-US" sz="1600" dirty="0">
                <a:solidFill>
                  <a:schemeClr val="tx1"/>
                </a:solidFill>
              </a:rPr>
              <a:t>월 </a:t>
            </a:r>
            <a:r>
              <a:rPr lang="en-US" altLang="ko-KR" sz="1600" dirty="0">
                <a:solidFill>
                  <a:schemeClr val="tx1"/>
                </a:solidFill>
              </a:rPr>
              <a:t>5</a:t>
            </a:r>
            <a:r>
              <a:rPr lang="ko-KR" altLang="en-US" sz="1600" dirty="0">
                <a:solidFill>
                  <a:schemeClr val="tx1"/>
                </a:solidFill>
              </a:rPr>
              <a:t>회 취소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36DDFD5-F1BD-5D2F-516C-40C50633663D}"/>
              </a:ext>
            </a:extLst>
          </p:cNvPr>
          <p:cNvSpPr/>
          <p:nvPr/>
        </p:nvSpPr>
        <p:spPr>
          <a:xfrm>
            <a:off x="14342031" y="4884328"/>
            <a:ext cx="2362200" cy="1752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장례 비용</a:t>
            </a:r>
            <a:br>
              <a:rPr lang="ko-KR" altLang="en-US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견적 제공</a:t>
            </a:r>
            <a:br>
              <a:rPr lang="ko-KR" altLang="en-US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1</a:t>
            </a:r>
            <a:r>
              <a:rPr lang="ko-KR" altLang="en-US" dirty="0">
                <a:solidFill>
                  <a:schemeClr val="tx1"/>
                </a:solidFill>
              </a:rPr>
              <a:t>주 제한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6" name="순서도: 판단 5">
            <a:extLst>
              <a:ext uri="{FF2B5EF4-FFF2-40B4-BE49-F238E27FC236}">
                <a16:creationId xmlns:a16="http://schemas.microsoft.com/office/drawing/2014/main" id="{98FF9244-9562-F5F9-123A-16425410C19C}"/>
              </a:ext>
            </a:extLst>
          </p:cNvPr>
          <p:cNvSpPr/>
          <p:nvPr/>
        </p:nvSpPr>
        <p:spPr>
          <a:xfrm>
            <a:off x="17036752" y="4954455"/>
            <a:ext cx="3048000" cy="1630314"/>
          </a:xfrm>
          <a:prstGeom prst="flowChartDecisi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제한 기간</a:t>
            </a:r>
            <a:br>
              <a:rPr lang="ko-KR" altLang="en-US" sz="1600" dirty="0">
                <a:solidFill>
                  <a:schemeClr val="tx1"/>
                </a:solidFill>
              </a:rPr>
            </a:br>
            <a:r>
              <a:rPr lang="en-US" altLang="ko-KR" sz="1600" dirty="0">
                <a:solidFill>
                  <a:schemeClr val="tx1"/>
                </a:solidFill>
              </a:rPr>
              <a:t>1</a:t>
            </a:r>
            <a:r>
              <a:rPr lang="ko-KR" altLang="en-US" sz="1600" dirty="0">
                <a:solidFill>
                  <a:schemeClr val="tx1"/>
                </a:solidFill>
              </a:rPr>
              <a:t>주 경과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060C0E6-B453-18B5-FA10-B5098F26F18C}"/>
              </a:ext>
            </a:extLst>
          </p:cNvPr>
          <p:cNvSpPr txBox="1"/>
          <p:nvPr/>
        </p:nvSpPr>
        <p:spPr>
          <a:xfrm>
            <a:off x="11967936" y="6567859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NO</a:t>
            </a:r>
            <a:endParaRPr lang="ko-KR" altLang="en-US" dirty="0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516416FF-4CA6-83F6-D4A1-B3B5727EB22A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16704231" y="5760628"/>
            <a:ext cx="332521" cy="89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D9D38765-F967-733B-C212-5A829ADA4D3A}"/>
              </a:ext>
            </a:extLst>
          </p:cNvPr>
          <p:cNvSpPr txBox="1"/>
          <p:nvPr/>
        </p:nvSpPr>
        <p:spPr>
          <a:xfrm>
            <a:off x="264500" y="571500"/>
            <a:ext cx="84064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sz="3200" b="1" dirty="0"/>
              <a:t>단계별 운영 프로세스</a:t>
            </a:r>
            <a:r>
              <a:rPr lang="en-US" altLang="ko-KR" sz="3200" b="1" dirty="0"/>
              <a:t> (</a:t>
            </a:r>
            <a:r>
              <a:rPr lang="ko-KR" altLang="en-US" sz="3200" b="1" dirty="0"/>
              <a:t>공간다원 </a:t>
            </a:r>
            <a:r>
              <a:rPr lang="en-US" altLang="ko-KR" sz="3200" b="1" dirty="0"/>
              <a:t>: </a:t>
            </a:r>
            <a:r>
              <a:rPr lang="ko-KR" altLang="en-US" sz="3200" b="1" dirty="0" err="1"/>
              <a:t>하늘꽃송이</a:t>
            </a:r>
            <a:r>
              <a:rPr lang="en-US" altLang="ko-KR" sz="3200" b="1" dirty="0"/>
              <a:t>)</a:t>
            </a:r>
            <a:endParaRPr lang="ko-KR" altLang="en-US" sz="32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F938D4C-4503-D32F-DDF7-985BF8768874}"/>
              </a:ext>
            </a:extLst>
          </p:cNvPr>
          <p:cNvSpPr txBox="1"/>
          <p:nvPr/>
        </p:nvSpPr>
        <p:spPr>
          <a:xfrm>
            <a:off x="2758068" y="4372028"/>
            <a:ext cx="8656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/>
              <a:t>[S810]</a:t>
            </a:r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B107BEF-3CD9-5585-BF5F-139AAF8318E6}"/>
              </a:ext>
            </a:extLst>
          </p:cNvPr>
          <p:cNvSpPr/>
          <p:nvPr/>
        </p:nvSpPr>
        <p:spPr>
          <a:xfrm>
            <a:off x="20574000" y="4898690"/>
            <a:ext cx="2362200" cy="1752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</a:t>
            </a:r>
            <a:r>
              <a:rPr lang="ko-KR" altLang="en-US" dirty="0">
                <a:solidFill>
                  <a:schemeClr val="tx1"/>
                </a:solidFill>
              </a:rPr>
              <a:t>주 제한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상조 회사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결제 취소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건수 초기화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(Batch)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9F08283-8E3E-82DC-65FD-8ADE7D984548}"/>
              </a:ext>
            </a:extLst>
          </p:cNvPr>
          <p:cNvCxnSpPr>
            <a:cxnSpLocks/>
            <a:stCxn id="6" idx="3"/>
            <a:endCxn id="2" idx="1"/>
          </p:cNvCxnSpPr>
          <p:nvPr/>
        </p:nvCxnSpPr>
        <p:spPr>
          <a:xfrm>
            <a:off x="20084752" y="5769612"/>
            <a:ext cx="489248" cy="53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순서도: 판단 3">
            <a:extLst>
              <a:ext uri="{FF2B5EF4-FFF2-40B4-BE49-F238E27FC236}">
                <a16:creationId xmlns:a16="http://schemas.microsoft.com/office/drawing/2014/main" id="{62A1A051-7284-C19F-C9AD-AB5E051170DE}"/>
              </a:ext>
            </a:extLst>
          </p:cNvPr>
          <p:cNvSpPr/>
          <p:nvPr/>
        </p:nvSpPr>
        <p:spPr>
          <a:xfrm>
            <a:off x="1627157" y="4937545"/>
            <a:ext cx="3048000" cy="1630314"/>
          </a:xfrm>
          <a:prstGeom prst="flowChartDecisi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상조회사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선제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취소 여부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C08DC96-53C6-B886-49D0-4CFF0BDE617F}"/>
              </a:ext>
            </a:extLst>
          </p:cNvPr>
          <p:cNvSpPr/>
          <p:nvPr/>
        </p:nvSpPr>
        <p:spPr>
          <a:xfrm>
            <a:off x="5282365" y="4898479"/>
            <a:ext cx="2362200" cy="1752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상조 회사</a:t>
            </a:r>
            <a:br>
              <a:rPr lang="ko-KR" altLang="en-US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결제 취소</a:t>
            </a:r>
            <a:br>
              <a:rPr lang="ko-KR" altLang="en-US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건수 누적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2F5A7BCA-3207-97D5-747A-76FB616D7FB2}"/>
              </a:ext>
            </a:extLst>
          </p:cNvPr>
          <p:cNvCxnSpPr>
            <a:cxnSpLocks/>
            <a:stCxn id="14" idx="3"/>
            <a:endCxn id="24" idx="1"/>
          </p:cNvCxnSpPr>
          <p:nvPr/>
        </p:nvCxnSpPr>
        <p:spPr>
          <a:xfrm flipV="1">
            <a:off x="7644565" y="5771703"/>
            <a:ext cx="645574" cy="30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38AFFB41-5779-C334-6F60-63EA14CAE51A}"/>
              </a:ext>
            </a:extLst>
          </p:cNvPr>
          <p:cNvCxnSpPr>
            <a:cxnSpLocks/>
            <a:stCxn id="4" idx="3"/>
            <a:endCxn id="14" idx="1"/>
          </p:cNvCxnSpPr>
          <p:nvPr/>
        </p:nvCxnSpPr>
        <p:spPr>
          <a:xfrm>
            <a:off x="4675157" y="5752702"/>
            <a:ext cx="607208" cy="220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3BA9DD2E-DC89-0AB0-1F47-6C6FAE272CFC}"/>
              </a:ext>
            </a:extLst>
          </p:cNvPr>
          <p:cNvSpPr/>
          <p:nvPr/>
        </p:nvSpPr>
        <p:spPr>
          <a:xfrm>
            <a:off x="1967537" y="6764044"/>
            <a:ext cx="2362200" cy="5227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건수 누적 종료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1FDBD542-BA1B-F2AE-DD6E-4249D716B3E4}"/>
              </a:ext>
            </a:extLst>
          </p:cNvPr>
          <p:cNvCxnSpPr>
            <a:cxnSpLocks/>
            <a:stCxn id="4" idx="2"/>
            <a:endCxn id="30" idx="0"/>
          </p:cNvCxnSpPr>
          <p:nvPr/>
        </p:nvCxnSpPr>
        <p:spPr>
          <a:xfrm flipH="1">
            <a:off x="3148637" y="6567859"/>
            <a:ext cx="2520" cy="1961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FFBA6F4-93C4-2400-4A2B-A5B190A9D03F}"/>
              </a:ext>
            </a:extLst>
          </p:cNvPr>
          <p:cNvSpPr txBox="1"/>
          <p:nvPr/>
        </p:nvSpPr>
        <p:spPr>
          <a:xfrm>
            <a:off x="4563994" y="5744728"/>
            <a:ext cx="512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YES</a:t>
            </a:r>
            <a:endParaRPr lang="ko-KR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0528A6C-F9DE-B668-215F-5EC0CD06B946}"/>
              </a:ext>
            </a:extLst>
          </p:cNvPr>
          <p:cNvSpPr txBox="1"/>
          <p:nvPr/>
        </p:nvSpPr>
        <p:spPr>
          <a:xfrm>
            <a:off x="3204273" y="6474747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NO</a:t>
            </a:r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65DB76-2A09-E533-518E-1B1475A98467}"/>
              </a:ext>
            </a:extLst>
          </p:cNvPr>
          <p:cNvSpPr txBox="1"/>
          <p:nvPr/>
        </p:nvSpPr>
        <p:spPr>
          <a:xfrm>
            <a:off x="1849382" y="6394175"/>
            <a:ext cx="8656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/>
              <a:t>[S820]</a:t>
            </a:r>
            <a:endParaRPr lang="ko-KR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577F670-308F-EA16-F837-9F3DA5832A88}"/>
              </a:ext>
            </a:extLst>
          </p:cNvPr>
          <p:cNvSpPr txBox="1"/>
          <p:nvPr/>
        </p:nvSpPr>
        <p:spPr>
          <a:xfrm>
            <a:off x="8494502" y="4528877"/>
            <a:ext cx="8656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/>
              <a:t>[S830]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980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4379</TotalTime>
  <Words>921</Words>
  <Application>Microsoft Office PowerPoint</Application>
  <PresentationFormat>사용자 지정</PresentationFormat>
  <Paragraphs>345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공간다원</dc:creator>
  <cp:lastModifiedBy>다원 공간</cp:lastModifiedBy>
  <cp:revision>63</cp:revision>
  <dcterms:created xsi:type="dcterms:W3CDTF">2006-08-16T00:00:00Z</dcterms:created>
  <dcterms:modified xsi:type="dcterms:W3CDTF">2026-01-22T16:27:36Z</dcterms:modified>
</cp:coreProperties>
</file>